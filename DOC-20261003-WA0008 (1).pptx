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type="screen4x3" cy="6858000" cx="12191695"/>
  <p:notesSz cx="6858000" cy="9144000"/>
  <p:defaultTextStyle>
    <a:defPPr>
      <a:defRPr lang="en-US"/>
    </a:defPPr>
    <a:lvl1pPr algn="l" defTabSz="4572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tableStyles" Target="tableStyles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1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892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893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894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895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89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51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5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85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5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6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67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86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86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7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72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73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7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87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7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78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rmAutofit fontScale="95833"/>
          </a:bodyPr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879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80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rmAutofit fontScale="95833"/>
          </a:bodyPr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881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82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883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84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4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84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4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8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5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86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87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88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88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9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5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56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857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85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85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6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62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6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86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6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5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46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4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84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4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25" name=""/>
        <p:cNvGrpSpPr/>
        <p:nvPr/>
      </p:nvGrpSpPr>
      <p:grpSpPr>
        <a:xfrm/>
      </p:grpSpPr>
      <p:sp>
        <p:nvSpPr>
          <p:cNvPr id="1048590" name="Rectangle 1"/>
          <p:cNvSpPr/>
          <p:nvPr/>
        </p:nvSpPr>
        <p:spPr>
          <a:xfrm>
            <a:off x="640080" y="182880"/>
            <a:ext cx="1234440" cy="41148"/>
          </a:xfrm>
          <a:prstGeom prst="rect"/>
          <a:solidFill>
            <a:srgbClr val="25A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1" name="Rectangle 2"/>
          <p:cNvSpPr/>
          <p:nvPr/>
        </p:nvSpPr>
        <p:spPr>
          <a:xfrm>
            <a:off x="1901952" y="182880"/>
            <a:ext cx="731520" cy="41148"/>
          </a:xfrm>
          <a:prstGeom prst="rect"/>
          <a:solidFill>
            <a:srgbClr val="8B6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2" name="TextBox 3"/>
          <p:cNvSpPr txBox="1"/>
          <p:nvPr/>
        </p:nvSpPr>
        <p:spPr>
          <a:xfrm>
            <a:off x="640080" y="6565392"/>
            <a:ext cx="4572000" cy="193040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700">
                <a:solidFill>
                  <a:srgbClr val="77859C"/>
                </a:solidFill>
                <a:latin typeface="Aptos"/>
              </a:rPr>
              <a:t>EDUSELECT AI  •  HACKATHON 2026</a:t>
            </a:r>
          </a:p>
        </p:txBody>
      </p:sp>
      <p:sp>
        <p:nvSpPr>
          <p:cNvPr id="1048593" name="TextBox 4"/>
          <p:cNvSpPr txBox="1"/>
          <p:nvPr/>
        </p:nvSpPr>
        <p:spPr>
          <a:xfrm>
            <a:off x="11064240" y="384048"/>
            <a:ext cx="457200" cy="201168"/>
          </a:xfrm>
          <a:prstGeom prst="rect"/>
          <a:noFill/>
        </p:spPr>
        <p:txBody>
          <a:bodyPr wrap="square">
            <a:spAutoFit/>
          </a:bodyPr>
          <a:p>
            <a:pPr algn="r"/>
            <a:r>
              <a:rPr b="1" sz="900">
                <a:solidFill>
                  <a:srgbClr val="77859C"/>
                </a:solidFill>
                <a:latin typeface="Aptos"/>
              </a:rPr>
              <a:t>01</a:t>
            </a:r>
          </a:p>
        </p:txBody>
      </p:sp>
      <p:sp>
        <p:nvSpPr>
          <p:cNvPr id="1048594" name="Oval 5"/>
          <p:cNvSpPr/>
          <p:nvPr/>
        </p:nvSpPr>
        <p:spPr>
          <a:xfrm>
            <a:off x="8686800" y="594360"/>
            <a:ext cx="2011680" cy="2011680"/>
          </a:xfrm>
          <a:prstGeom prst="ellipse"/>
          <a:solidFill>
            <a:srgbClr val="EA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5" name="Oval 6"/>
          <p:cNvSpPr/>
          <p:nvPr/>
        </p:nvSpPr>
        <p:spPr>
          <a:xfrm>
            <a:off x="9875520" y="1463040"/>
            <a:ext cx="1645920" cy="1645920"/>
          </a:xfrm>
          <a:prstGeom prst="ellipse"/>
          <a:solidFill>
            <a:srgbClr val="E5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6" name="Oval 7"/>
          <p:cNvSpPr/>
          <p:nvPr/>
        </p:nvSpPr>
        <p:spPr>
          <a:xfrm>
            <a:off x="8412480" y="3108960"/>
            <a:ext cx="1828800" cy="1828800"/>
          </a:xfrm>
          <a:prstGeom prst="ellipse"/>
          <a:solidFill>
            <a:srgbClr val="F2ED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7" name="TextBox 8"/>
          <p:cNvSpPr txBox="1"/>
          <p:nvPr/>
        </p:nvSpPr>
        <p:spPr>
          <a:xfrm>
            <a:off x="749808" y="914400"/>
            <a:ext cx="6126480" cy="231141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1000">
                <a:solidFill>
                  <a:srgbClr val="25AEB0"/>
                </a:solidFill>
                <a:latin typeface="Aptos"/>
              </a:rPr>
              <a:t>AI-POWERED EDUCATION TECHNOLOGY</a:t>
            </a:r>
          </a:p>
        </p:txBody>
      </p:sp>
      <p:sp>
        <p:nvSpPr>
          <p:cNvPr id="1048598" name="TextBox 9"/>
          <p:cNvSpPr txBox="1"/>
          <p:nvPr/>
        </p:nvSpPr>
        <p:spPr>
          <a:xfrm>
            <a:off x="749808" y="1508760"/>
            <a:ext cx="6675120" cy="731520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4200">
                <a:solidFill>
                  <a:srgbClr val="1E3052"/>
                </a:solidFill>
                <a:latin typeface="Aptos"/>
              </a:rPr>
              <a:t>EduSelect AI</a:t>
            </a:r>
          </a:p>
        </p:txBody>
      </p:sp>
      <p:sp>
        <p:nvSpPr>
          <p:cNvPr id="1048599" name="TextBox 10"/>
          <p:cNvSpPr txBox="1"/>
          <p:nvPr/>
        </p:nvSpPr>
        <p:spPr>
          <a:xfrm>
            <a:off x="749808" y="2331720"/>
            <a:ext cx="6492240" cy="802640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2400">
                <a:solidFill>
                  <a:srgbClr val="4B82DC"/>
                </a:solidFill>
                <a:latin typeface="Aptos"/>
              </a:rPr>
              <a:t>Smart Student Subject
Selection System</a:t>
            </a:r>
          </a:p>
        </p:txBody>
      </p:sp>
      <p:sp>
        <p:nvSpPr>
          <p:cNvPr id="1048608" name="Rounded Rectangle 19"/>
          <p:cNvSpPr/>
          <p:nvPr/>
        </p:nvSpPr>
        <p:spPr>
          <a:xfrm>
            <a:off x="7315200" y="1143000"/>
            <a:ext cx="4069080" cy="4526280"/>
          </a:xfrm>
          <a:prstGeom prst="roundRect"/>
          <a:solidFill>
            <a:srgbClr val="FFFFFF"/>
          </a:solidFill>
          <a:ln>
            <a:solidFill>
              <a:srgbClr val="E1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09" name="TextBox 20"/>
          <p:cNvSpPr txBox="1"/>
          <p:nvPr/>
        </p:nvSpPr>
        <p:spPr>
          <a:xfrm>
            <a:off x="7635240" y="1463040"/>
            <a:ext cx="3383280" cy="231140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1000">
                <a:solidFill>
                  <a:srgbClr val="25AEB0"/>
                </a:solidFill>
                <a:latin typeface="Aptos"/>
              </a:rPr>
              <a:t>AI STUDENT PROFILE</a:t>
            </a:r>
          </a:p>
        </p:txBody>
      </p:sp>
      <p:sp>
        <p:nvSpPr>
          <p:cNvPr id="1048610" name="TextBox 21"/>
          <p:cNvSpPr txBox="1"/>
          <p:nvPr/>
        </p:nvSpPr>
        <p:spPr>
          <a:xfrm>
            <a:off x="7635240" y="1828800"/>
            <a:ext cx="3383280" cy="365760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1700">
                <a:solidFill>
                  <a:srgbClr val="1E3052"/>
                </a:solidFill>
                <a:latin typeface="Aptos"/>
              </a:rPr>
              <a:t>Your learning fingerprint</a:t>
            </a:r>
          </a:p>
        </p:txBody>
      </p:sp>
      <p:sp>
        <p:nvSpPr>
          <p:cNvPr id="1048611" name="TextBox 22"/>
          <p:cNvSpPr txBox="1"/>
          <p:nvPr/>
        </p:nvSpPr>
        <p:spPr>
          <a:xfrm>
            <a:off x="7635240" y="2560320"/>
            <a:ext cx="1371600" cy="228600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900">
                <a:solidFill>
                  <a:srgbClr val="41506A"/>
                </a:solidFill>
                <a:latin typeface="Aptos"/>
              </a:rPr>
              <a:t>AI / ML</a:t>
            </a:r>
          </a:p>
        </p:txBody>
      </p:sp>
      <p:sp>
        <p:nvSpPr>
          <p:cNvPr id="1048612" name="Rounded Rectangle 23"/>
          <p:cNvSpPr/>
          <p:nvPr/>
        </p:nvSpPr>
        <p:spPr>
          <a:xfrm>
            <a:off x="9098280" y="2596896"/>
            <a:ext cx="1417320" cy="128016"/>
          </a:xfrm>
          <a:prstGeom prst="roundRect"/>
          <a:solidFill>
            <a:srgbClr val="E1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3" name="Rounded Rectangle 24"/>
          <p:cNvSpPr/>
          <p:nvPr/>
        </p:nvSpPr>
        <p:spPr>
          <a:xfrm>
            <a:off x="9098280" y="2596896"/>
            <a:ext cx="1303934" cy="128016"/>
          </a:xfrm>
          <a:prstGeom prst="roundRect"/>
          <a:solidFill>
            <a:srgbClr val="25A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4" name="TextBox 25"/>
          <p:cNvSpPr txBox="1"/>
          <p:nvPr/>
        </p:nvSpPr>
        <p:spPr>
          <a:xfrm>
            <a:off x="10698480" y="2523744"/>
            <a:ext cx="411480" cy="228600"/>
          </a:xfrm>
          <a:prstGeom prst="rect"/>
          <a:noFill/>
        </p:spPr>
        <p:txBody>
          <a:bodyPr wrap="square">
            <a:spAutoFit/>
          </a:bodyPr>
          <a:p>
            <a:pPr algn="r"/>
            <a:r>
              <a:rPr b="1" sz="900">
                <a:solidFill>
                  <a:srgbClr val="25AEB0"/>
                </a:solidFill>
                <a:latin typeface="Aptos"/>
              </a:rPr>
              <a:t>92%</a:t>
            </a:r>
          </a:p>
        </p:txBody>
      </p:sp>
      <p:sp>
        <p:nvSpPr>
          <p:cNvPr id="1048615" name="TextBox 26"/>
          <p:cNvSpPr txBox="1"/>
          <p:nvPr/>
        </p:nvSpPr>
        <p:spPr>
          <a:xfrm>
            <a:off x="7635240" y="3218687"/>
            <a:ext cx="1371600" cy="228600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900">
                <a:solidFill>
                  <a:srgbClr val="41506A"/>
                </a:solidFill>
                <a:latin typeface="Aptos"/>
              </a:rPr>
              <a:t>Python</a:t>
            </a:r>
          </a:p>
        </p:txBody>
      </p:sp>
      <p:sp>
        <p:nvSpPr>
          <p:cNvPr id="1048616" name="Rounded Rectangle 27"/>
          <p:cNvSpPr/>
          <p:nvPr/>
        </p:nvSpPr>
        <p:spPr>
          <a:xfrm>
            <a:off x="9098280" y="3255263"/>
            <a:ext cx="1417320" cy="128016"/>
          </a:xfrm>
          <a:prstGeom prst="roundRect"/>
          <a:solidFill>
            <a:srgbClr val="E1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7" name="Rounded Rectangle 28"/>
          <p:cNvSpPr/>
          <p:nvPr/>
        </p:nvSpPr>
        <p:spPr>
          <a:xfrm>
            <a:off x="9098280" y="3255263"/>
            <a:ext cx="1247241" cy="128016"/>
          </a:xfrm>
          <a:prstGeom prst="roundRect"/>
          <a:solidFill>
            <a:srgbClr val="4B8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8" name="TextBox 29"/>
          <p:cNvSpPr txBox="1"/>
          <p:nvPr/>
        </p:nvSpPr>
        <p:spPr>
          <a:xfrm>
            <a:off x="10698480" y="3182111"/>
            <a:ext cx="411480" cy="218441"/>
          </a:xfrm>
          <a:prstGeom prst="rect"/>
          <a:noFill/>
        </p:spPr>
        <p:txBody>
          <a:bodyPr wrap="square">
            <a:spAutoFit/>
          </a:bodyPr>
          <a:p>
            <a:pPr algn="r"/>
            <a:r>
              <a:rPr b="1" sz="900">
                <a:solidFill>
                  <a:srgbClr val="4B82DC"/>
                </a:solidFill>
                <a:latin typeface="Aptos"/>
              </a:rPr>
              <a:t>88%</a:t>
            </a:r>
          </a:p>
        </p:txBody>
      </p:sp>
      <p:sp>
        <p:nvSpPr>
          <p:cNvPr id="1048619" name="TextBox 30"/>
          <p:cNvSpPr txBox="1"/>
          <p:nvPr/>
        </p:nvSpPr>
        <p:spPr>
          <a:xfrm>
            <a:off x="7635240" y="3877056"/>
            <a:ext cx="1371600" cy="228600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900">
                <a:solidFill>
                  <a:srgbClr val="41506A"/>
                </a:solidFill>
                <a:latin typeface="Aptos"/>
              </a:rPr>
              <a:t>Problem Solving</a:t>
            </a:r>
          </a:p>
        </p:txBody>
      </p:sp>
      <p:sp>
        <p:nvSpPr>
          <p:cNvPr id="1048620" name="Rounded Rectangle 31"/>
          <p:cNvSpPr/>
          <p:nvPr/>
        </p:nvSpPr>
        <p:spPr>
          <a:xfrm>
            <a:off x="9098280" y="3913632"/>
            <a:ext cx="1417320" cy="128016"/>
          </a:xfrm>
          <a:prstGeom prst="roundRect"/>
          <a:solidFill>
            <a:srgbClr val="E1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1" name="Rounded Rectangle 32"/>
          <p:cNvSpPr/>
          <p:nvPr/>
        </p:nvSpPr>
        <p:spPr>
          <a:xfrm>
            <a:off x="9098280" y="3913632"/>
            <a:ext cx="1148029" cy="128016"/>
          </a:xfrm>
          <a:prstGeom prst="roundRect"/>
          <a:solidFill>
            <a:srgbClr val="8B6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2" name="TextBox 33"/>
          <p:cNvSpPr txBox="1"/>
          <p:nvPr/>
        </p:nvSpPr>
        <p:spPr>
          <a:xfrm>
            <a:off x="10698480" y="3840480"/>
            <a:ext cx="411480" cy="228600"/>
          </a:xfrm>
          <a:prstGeom prst="rect"/>
          <a:noFill/>
        </p:spPr>
        <p:txBody>
          <a:bodyPr wrap="square">
            <a:spAutoFit/>
          </a:bodyPr>
          <a:p>
            <a:pPr algn="r"/>
            <a:r>
              <a:rPr b="1" sz="900">
                <a:solidFill>
                  <a:srgbClr val="8B6FD2"/>
                </a:solidFill>
                <a:latin typeface="Aptos"/>
              </a:rPr>
              <a:t>81%</a:t>
            </a:r>
          </a:p>
        </p:txBody>
      </p:sp>
      <p:sp>
        <p:nvSpPr>
          <p:cNvPr id="1048623" name="TextBox 34"/>
          <p:cNvSpPr txBox="1"/>
          <p:nvPr/>
        </p:nvSpPr>
        <p:spPr>
          <a:xfrm>
            <a:off x="7635240" y="4535424"/>
            <a:ext cx="1371600" cy="228600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900">
                <a:solidFill>
                  <a:srgbClr val="41506A"/>
                </a:solidFill>
                <a:latin typeface="Aptos"/>
              </a:rPr>
              <a:t>Career Fit</a:t>
            </a:r>
          </a:p>
        </p:txBody>
      </p:sp>
      <p:sp>
        <p:nvSpPr>
          <p:cNvPr id="1048624" name="Rounded Rectangle 35"/>
          <p:cNvSpPr/>
          <p:nvPr/>
        </p:nvSpPr>
        <p:spPr>
          <a:xfrm>
            <a:off x="9098280" y="4572000"/>
            <a:ext cx="1417320" cy="128016"/>
          </a:xfrm>
          <a:prstGeom prst="roundRect"/>
          <a:solidFill>
            <a:srgbClr val="E1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5" name="Rounded Rectangle 36"/>
          <p:cNvSpPr/>
          <p:nvPr/>
        </p:nvSpPr>
        <p:spPr>
          <a:xfrm>
            <a:off x="9098280" y="4572000"/>
            <a:ext cx="1346454" cy="128016"/>
          </a:xfrm>
          <a:prstGeom prst="roundRect"/>
          <a:solidFill>
            <a:srgbClr val="41A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6" name="TextBox 37"/>
          <p:cNvSpPr txBox="1"/>
          <p:nvPr/>
        </p:nvSpPr>
        <p:spPr>
          <a:xfrm>
            <a:off x="10698480" y="4498848"/>
            <a:ext cx="411480" cy="218440"/>
          </a:xfrm>
          <a:prstGeom prst="rect"/>
          <a:noFill/>
        </p:spPr>
        <p:txBody>
          <a:bodyPr wrap="square">
            <a:spAutoFit/>
          </a:bodyPr>
          <a:p>
            <a:pPr algn="r"/>
            <a:r>
              <a:rPr b="1" sz="900">
                <a:solidFill>
                  <a:srgbClr val="41A67D"/>
                </a:solidFill>
                <a:latin typeface="Aptos"/>
              </a:rPr>
              <a:t>95%</a:t>
            </a:r>
          </a:p>
        </p:txBody>
      </p:sp>
      <p:sp>
        <p:nvSpPr>
          <p:cNvPr id="1048899" name=""/>
          <p:cNvSpPr txBox="1"/>
          <p:nvPr/>
        </p:nvSpPr>
        <p:spPr>
          <a:xfrm>
            <a:off x="640080" y="3447287"/>
            <a:ext cx="5641919" cy="1158240"/>
          </a:xfrm>
          <a:prstGeom prst="rect"/>
        </p:spPr>
        <p:txBody>
          <a:bodyPr rtlCol="0" wrap="square">
            <a:spAutoFit/>
          </a:bodyPr>
          <a:lstStyle>
            <a:defPPr>
              <a:defRPr lang="en-US"/>
            </a:defPPr>
            <a:lvl1pPr algn="l" defTabSz="4572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4572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4572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4572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4572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4572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4572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4572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4572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800" lang="en-GB">
                <a:solidFill>
                  <a:srgbClr val="000000"/>
                </a:solidFill>
                <a:latin typeface="Calibri"/>
              </a:rPr>
              <a:t>K.Naga Nithya(25MVCSMR0406)</a:t>
            </a:r>
            <a:endParaRPr sz="1600" lang="en-GB">
              <a:solidFill>
                <a:srgbClr val="000000"/>
              </a:solidFill>
            </a:endParaRPr>
          </a:p>
          <a:p>
            <a:r>
              <a:rPr sz="1800" lang="en-GB">
                <a:solidFill>
                  <a:srgbClr val="000000"/>
                </a:solidFill>
                <a:latin typeface="Calibri"/>
              </a:rPr>
              <a:t>K.niveditha(25MVCSMR0407</a:t>
            </a:r>
            <a:endParaRPr sz="1600" lang="en-GB">
              <a:solidFill>
                <a:srgbClr val="000000"/>
              </a:solidFill>
            </a:endParaRPr>
          </a:p>
          <a:p>
            <a:r>
              <a:rPr sz="1800" lang="en-GB">
                <a:solidFill>
                  <a:srgbClr val="000000"/>
                </a:solidFill>
                <a:latin typeface="Calibri"/>
              </a:rPr>
              <a:t>G.Akshari(25MVCSMR0397</a:t>
            </a:r>
            <a:endParaRPr sz="1600" lang="en-GB">
              <a:solidFill>
                <a:srgbClr val="000000"/>
              </a:solidFill>
            </a:endParaRPr>
          </a:p>
          <a:p>
            <a:r>
              <a:rPr sz="1800" lang="en-GB">
                <a:solidFill>
                  <a:srgbClr val="000000"/>
                </a:solidFill>
                <a:latin typeface="Calibri"/>
              </a:rPr>
              <a:t>C.akanksha(25MVCSMR0384</a:t>
            </a:r>
            <a:endParaRPr sz="2800" lang="en-GB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26" name=""/>
        <p:cNvGrpSpPr/>
        <p:nvPr/>
      </p:nvGrpSpPr>
      <p:grpSpPr>
        <a:xfrm/>
      </p:grpSpPr>
      <p:sp>
        <p:nvSpPr>
          <p:cNvPr id="1048627" name="Rectangle 1"/>
          <p:cNvSpPr/>
          <p:nvPr/>
        </p:nvSpPr>
        <p:spPr>
          <a:xfrm>
            <a:off x="640080" y="182880"/>
            <a:ext cx="1234440" cy="41148"/>
          </a:xfrm>
          <a:prstGeom prst="rect"/>
          <a:solidFill>
            <a:srgbClr val="25A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8" name="Rectangle 2"/>
          <p:cNvSpPr/>
          <p:nvPr/>
        </p:nvSpPr>
        <p:spPr>
          <a:xfrm>
            <a:off x="1901952" y="182880"/>
            <a:ext cx="731520" cy="41148"/>
          </a:xfrm>
          <a:prstGeom prst="rect"/>
          <a:solidFill>
            <a:srgbClr val="8B6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9" name="TextBox 3"/>
          <p:cNvSpPr txBox="1"/>
          <p:nvPr/>
        </p:nvSpPr>
        <p:spPr>
          <a:xfrm>
            <a:off x="640080" y="6565392"/>
            <a:ext cx="4572000" cy="193040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700">
                <a:solidFill>
                  <a:srgbClr val="77859C"/>
                </a:solidFill>
                <a:latin typeface="Aptos"/>
              </a:rPr>
              <a:t>EDUSELECT AI  •  HACKATHON 2026</a:t>
            </a:r>
          </a:p>
        </p:txBody>
      </p:sp>
      <p:sp>
        <p:nvSpPr>
          <p:cNvPr id="1048630" name="TextBox 4"/>
          <p:cNvSpPr txBox="1"/>
          <p:nvPr/>
        </p:nvSpPr>
        <p:spPr>
          <a:xfrm>
            <a:off x="11064240" y="384048"/>
            <a:ext cx="457200" cy="201168"/>
          </a:xfrm>
          <a:prstGeom prst="rect"/>
          <a:noFill/>
        </p:spPr>
        <p:txBody>
          <a:bodyPr wrap="square">
            <a:spAutoFit/>
          </a:bodyPr>
          <a:p>
            <a:pPr algn="r"/>
            <a:r>
              <a:rPr b="1" sz="900">
                <a:solidFill>
                  <a:srgbClr val="77859C"/>
                </a:solidFill>
                <a:latin typeface="Aptos"/>
              </a:rPr>
              <a:t>02</a:t>
            </a:r>
          </a:p>
        </p:txBody>
      </p:sp>
      <p:sp>
        <p:nvSpPr>
          <p:cNvPr id="1048631" name="TextBox 5"/>
          <p:cNvSpPr txBox="1"/>
          <p:nvPr/>
        </p:nvSpPr>
        <p:spPr>
          <a:xfrm>
            <a:off x="640080" y="347472"/>
            <a:ext cx="6400800" cy="228600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900">
                <a:solidFill>
                  <a:srgbClr val="25AEB0"/>
                </a:solidFill>
                <a:latin typeface="Aptos"/>
              </a:rPr>
              <a:t>01 • THE PROBLEM</a:t>
            </a:r>
          </a:p>
        </p:txBody>
      </p:sp>
      <p:sp>
        <p:nvSpPr>
          <p:cNvPr id="1048632" name="TextBox 6"/>
          <p:cNvSpPr txBox="1"/>
          <p:nvPr/>
        </p:nvSpPr>
        <p:spPr>
          <a:xfrm>
            <a:off x="640080" y="658368"/>
            <a:ext cx="10698480" cy="502920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2700">
                <a:solidFill>
                  <a:srgbClr val="1E3052"/>
                </a:solidFill>
                <a:latin typeface="Aptos"/>
              </a:rPr>
              <a:t>Subject choice is more than a dropdown.</a:t>
            </a:r>
          </a:p>
        </p:txBody>
      </p:sp>
      <p:sp>
        <p:nvSpPr>
          <p:cNvPr id="1048633" name="TextBox 7"/>
          <p:cNvSpPr txBox="1"/>
          <p:nvPr/>
        </p:nvSpPr>
        <p:spPr>
          <a:xfrm>
            <a:off x="640080" y="1188720"/>
            <a:ext cx="10789920" cy="231140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0" sz="1000">
                <a:solidFill>
                  <a:srgbClr val="77859C"/>
                </a:solidFill>
                <a:latin typeface="Aptos"/>
              </a:rPr>
              <a:t>Students are choosing skills, opportunities, and a learning direction—not just a course name.</a:t>
            </a:r>
          </a:p>
        </p:txBody>
      </p:sp>
      <p:sp>
        <p:nvSpPr>
          <p:cNvPr id="1048634" name="Rounded Rectangle 8"/>
          <p:cNvSpPr/>
          <p:nvPr/>
        </p:nvSpPr>
        <p:spPr>
          <a:xfrm>
            <a:off x="640080" y="1783080"/>
            <a:ext cx="2743200" cy="4251960"/>
          </a:xfrm>
          <a:prstGeom prst="roundRect"/>
          <a:solidFill>
            <a:srgbClr val="FFFFFF"/>
          </a:solidFill>
          <a:ln>
            <a:solidFill>
              <a:srgbClr val="E1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5" name="Rectangle 9"/>
          <p:cNvSpPr/>
          <p:nvPr/>
        </p:nvSpPr>
        <p:spPr>
          <a:xfrm>
            <a:off x="640080" y="1783080"/>
            <a:ext cx="50292" cy="4251960"/>
          </a:xfrm>
          <a:prstGeom prst="rect"/>
          <a:solidFill>
            <a:srgbClr val="25A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6" name="TextBox 10"/>
          <p:cNvSpPr txBox="1"/>
          <p:nvPr/>
        </p:nvSpPr>
        <p:spPr>
          <a:xfrm>
            <a:off x="841247" y="1938528"/>
            <a:ext cx="2359152" cy="292608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1300">
                <a:solidFill>
                  <a:srgbClr val="1E3052"/>
                </a:solidFill>
                <a:latin typeface="Aptos"/>
              </a:rPr>
              <a:t>TODAY’S GAP</a:t>
            </a:r>
          </a:p>
        </p:txBody>
      </p:sp>
      <p:sp>
        <p:nvSpPr>
          <p:cNvPr id="1048637" name="TextBox 11"/>
          <p:cNvSpPr txBox="1"/>
          <p:nvPr/>
        </p:nvSpPr>
        <p:spPr>
          <a:xfrm>
            <a:off x="841247" y="2322576"/>
            <a:ext cx="2359152" cy="929641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0" sz="1000">
                <a:solidFill>
                  <a:srgbClr val="41506A"/>
                </a:solidFill>
                <a:latin typeface="Aptos"/>
              </a:rPr>
              <a:t>One static subject list cannot understand every student.
Students need guidance that considers their individual strengths, interests, and ambitions.</a:t>
            </a:r>
          </a:p>
        </p:txBody>
      </p:sp>
      <p:sp>
        <p:nvSpPr>
          <p:cNvPr id="1048638" name="Rounded Rectangle 12"/>
          <p:cNvSpPr/>
          <p:nvPr/>
        </p:nvSpPr>
        <p:spPr>
          <a:xfrm>
            <a:off x="3657600" y="1783080"/>
            <a:ext cx="3657600" cy="1298448"/>
          </a:xfrm>
          <a:prstGeom prst="roundRect"/>
          <a:solidFill>
            <a:srgbClr val="FFFFFF"/>
          </a:solidFill>
          <a:ln>
            <a:solidFill>
              <a:srgbClr val="E1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9" name="Rectangle 13"/>
          <p:cNvSpPr/>
          <p:nvPr/>
        </p:nvSpPr>
        <p:spPr>
          <a:xfrm>
            <a:off x="3657600" y="1783080"/>
            <a:ext cx="50292" cy="1298448"/>
          </a:xfrm>
          <a:prstGeom prst="rect"/>
          <a:solidFill>
            <a:srgbClr val="DA6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0" name="TextBox 14"/>
          <p:cNvSpPr txBox="1"/>
          <p:nvPr/>
        </p:nvSpPr>
        <p:spPr>
          <a:xfrm>
            <a:off x="3858768" y="1938528"/>
            <a:ext cx="3273552" cy="292608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1300">
                <a:solidFill>
                  <a:srgbClr val="1E3052"/>
                </a:solidFill>
                <a:latin typeface="Aptos"/>
              </a:rPr>
              <a:t>CONFUSION</a:t>
            </a:r>
          </a:p>
        </p:txBody>
      </p:sp>
      <p:sp>
        <p:nvSpPr>
          <p:cNvPr id="1048641" name="TextBox 15"/>
          <p:cNvSpPr txBox="1"/>
          <p:nvPr/>
        </p:nvSpPr>
        <p:spPr>
          <a:xfrm>
            <a:off x="3858768" y="2322576"/>
            <a:ext cx="3273552" cy="370841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0" sz="1000">
                <a:solidFill>
                  <a:srgbClr val="41506A"/>
                </a:solidFill>
                <a:latin typeface="Aptos"/>
              </a:rPr>
              <a:t>“My friend selected it. Should I?”
Students often lack subject-to-career clarity.</a:t>
            </a:r>
          </a:p>
        </p:txBody>
      </p:sp>
      <p:sp>
        <p:nvSpPr>
          <p:cNvPr id="1048642" name="Rounded Rectangle 16"/>
          <p:cNvSpPr/>
          <p:nvPr/>
        </p:nvSpPr>
        <p:spPr>
          <a:xfrm>
            <a:off x="3657600" y="3264408"/>
            <a:ext cx="3657600" cy="1298448"/>
          </a:xfrm>
          <a:prstGeom prst="roundRect"/>
          <a:solidFill>
            <a:srgbClr val="FFFFFF"/>
          </a:solidFill>
          <a:ln>
            <a:solidFill>
              <a:srgbClr val="E1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3" name="Rectangle 17"/>
          <p:cNvSpPr/>
          <p:nvPr/>
        </p:nvSpPr>
        <p:spPr>
          <a:xfrm>
            <a:off x="3657600" y="3264408"/>
            <a:ext cx="50292" cy="1298448"/>
          </a:xfrm>
          <a:prstGeom prst="rect"/>
          <a:solidFill>
            <a:srgbClr val="E2A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4" name="TextBox 18"/>
          <p:cNvSpPr txBox="1"/>
          <p:nvPr/>
        </p:nvSpPr>
        <p:spPr>
          <a:xfrm>
            <a:off x="3858768" y="3419856"/>
            <a:ext cx="3273552" cy="292608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1300">
                <a:solidFill>
                  <a:srgbClr val="1E3052"/>
                </a:solidFill>
                <a:latin typeface="Aptos"/>
              </a:rPr>
              <a:t>INFORMATION OVERLOAD</a:t>
            </a:r>
          </a:p>
        </p:txBody>
      </p:sp>
      <p:sp>
        <p:nvSpPr>
          <p:cNvPr id="1048645" name="TextBox 19"/>
          <p:cNvSpPr txBox="1"/>
          <p:nvPr/>
        </p:nvSpPr>
        <p:spPr>
          <a:xfrm>
            <a:off x="3858768" y="3803904"/>
            <a:ext cx="3273552" cy="370840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0" sz="1000">
                <a:solidFill>
                  <a:srgbClr val="41506A"/>
                </a:solidFill>
                <a:latin typeface="Aptos"/>
              </a:rPr>
              <a:t>Many subjects • different prerequisites • unclear outcomes.</a:t>
            </a:r>
          </a:p>
        </p:txBody>
      </p:sp>
      <p:sp>
        <p:nvSpPr>
          <p:cNvPr id="1048646" name="Rounded Rectangle 20"/>
          <p:cNvSpPr/>
          <p:nvPr/>
        </p:nvSpPr>
        <p:spPr>
          <a:xfrm>
            <a:off x="3657600" y="4745736"/>
            <a:ext cx="3657600" cy="1298448"/>
          </a:xfrm>
          <a:prstGeom prst="roundRect"/>
          <a:solidFill>
            <a:srgbClr val="FFFFFF"/>
          </a:solidFill>
          <a:ln>
            <a:solidFill>
              <a:srgbClr val="E1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7" name="Rectangle 21"/>
          <p:cNvSpPr/>
          <p:nvPr/>
        </p:nvSpPr>
        <p:spPr>
          <a:xfrm>
            <a:off x="3657600" y="4745736"/>
            <a:ext cx="50292" cy="1298448"/>
          </a:xfrm>
          <a:prstGeom prst="rect"/>
          <a:solidFill>
            <a:srgbClr val="8B6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8" name="TextBox 22"/>
          <p:cNvSpPr txBox="1"/>
          <p:nvPr/>
        </p:nvSpPr>
        <p:spPr>
          <a:xfrm>
            <a:off x="3858768" y="4901184"/>
            <a:ext cx="3273552" cy="292608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1300">
                <a:solidFill>
                  <a:srgbClr val="1E3052"/>
                </a:solidFill>
                <a:latin typeface="Aptos"/>
              </a:rPr>
              <a:t>ONE-SIZE GUIDANCE</a:t>
            </a:r>
          </a:p>
        </p:txBody>
      </p:sp>
      <p:sp>
        <p:nvSpPr>
          <p:cNvPr id="1048649" name="TextBox 23"/>
          <p:cNvSpPr txBox="1"/>
          <p:nvPr/>
        </p:nvSpPr>
        <p:spPr>
          <a:xfrm>
            <a:off x="3858768" y="5285232"/>
            <a:ext cx="3273552" cy="231141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0" sz="1000">
                <a:solidFill>
                  <a:srgbClr val="41506A"/>
                </a:solidFill>
                <a:latin typeface="Aptos"/>
              </a:rPr>
              <a:t>Marks alone do not capture interest, skills, or goals.</a:t>
            </a:r>
          </a:p>
        </p:txBody>
      </p:sp>
      <p:sp>
        <p:nvSpPr>
          <p:cNvPr id="1048650" name="Rounded Rectangle 24"/>
          <p:cNvSpPr/>
          <p:nvPr/>
        </p:nvSpPr>
        <p:spPr>
          <a:xfrm>
            <a:off x="7589520" y="1783080"/>
            <a:ext cx="3931920" cy="4251960"/>
          </a:xfrm>
          <a:prstGeom prst="roundRect"/>
          <a:solidFill>
            <a:srgbClr val="EAF1FD"/>
          </a:solidFill>
          <a:ln>
            <a:solidFill>
              <a:srgbClr val="E1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51" name="TextBox 25"/>
          <p:cNvSpPr txBox="1"/>
          <p:nvPr/>
        </p:nvSpPr>
        <p:spPr>
          <a:xfrm>
            <a:off x="7909560" y="2084831"/>
            <a:ext cx="3200400" cy="218441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900">
                <a:solidFill>
                  <a:srgbClr val="4B82DC"/>
                </a:solidFill>
                <a:latin typeface="Aptos"/>
              </a:rPr>
              <a:t>WITHOUT PERSONALIZATION</a:t>
            </a:r>
          </a:p>
        </p:txBody>
      </p:sp>
      <p:sp>
        <p:nvSpPr>
          <p:cNvPr id="1048652" name="Oval 26"/>
          <p:cNvSpPr/>
          <p:nvPr/>
        </p:nvSpPr>
        <p:spPr>
          <a:xfrm>
            <a:off x="7955279" y="2697480"/>
            <a:ext cx="164592" cy="164592"/>
          </a:xfrm>
          <a:prstGeom prst="ellipse"/>
          <a:solidFill>
            <a:srgbClr val="E2A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53" name="TextBox 27"/>
          <p:cNvSpPr txBox="1"/>
          <p:nvPr/>
        </p:nvSpPr>
        <p:spPr>
          <a:xfrm>
            <a:off x="8275320" y="2660904"/>
            <a:ext cx="2377440" cy="256032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1100">
                <a:solidFill>
                  <a:srgbClr val="1E3052"/>
                </a:solidFill>
                <a:latin typeface="Aptos"/>
              </a:rPr>
              <a:t>Marks</a:t>
            </a:r>
          </a:p>
        </p:txBody>
      </p:sp>
      <p:sp>
        <p:nvSpPr>
          <p:cNvPr id="1048654" name="Oval 28"/>
          <p:cNvSpPr/>
          <p:nvPr/>
        </p:nvSpPr>
        <p:spPr>
          <a:xfrm>
            <a:off x="7955279" y="3337560"/>
            <a:ext cx="164592" cy="164592"/>
          </a:xfrm>
          <a:prstGeom prst="ellipse"/>
          <a:solidFill>
            <a:srgbClr val="DA6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55" name="TextBox 29"/>
          <p:cNvSpPr txBox="1"/>
          <p:nvPr/>
        </p:nvSpPr>
        <p:spPr>
          <a:xfrm>
            <a:off x="8275320" y="3300984"/>
            <a:ext cx="2377440" cy="256032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1100">
                <a:solidFill>
                  <a:srgbClr val="1E3052"/>
                </a:solidFill>
                <a:latin typeface="Aptos"/>
              </a:rPr>
              <a:t>Friends</a:t>
            </a:r>
          </a:p>
        </p:txBody>
      </p:sp>
      <p:sp>
        <p:nvSpPr>
          <p:cNvPr id="1048656" name="Oval 30"/>
          <p:cNvSpPr/>
          <p:nvPr/>
        </p:nvSpPr>
        <p:spPr>
          <a:xfrm>
            <a:off x="7955279" y="3977639"/>
            <a:ext cx="164592" cy="164592"/>
          </a:xfrm>
          <a:prstGeom prst="ellipse"/>
          <a:solidFill>
            <a:srgbClr val="8B6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57" name="TextBox 31"/>
          <p:cNvSpPr txBox="1"/>
          <p:nvPr/>
        </p:nvSpPr>
        <p:spPr>
          <a:xfrm>
            <a:off x="8275320" y="3941063"/>
            <a:ext cx="2377440" cy="256032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1100">
                <a:solidFill>
                  <a:srgbClr val="1E3052"/>
                </a:solidFill>
                <a:latin typeface="Aptos"/>
              </a:rPr>
              <a:t>Trends</a:t>
            </a:r>
          </a:p>
        </p:txBody>
      </p:sp>
      <p:sp>
        <p:nvSpPr>
          <p:cNvPr id="1048658" name="Oval 32"/>
          <p:cNvSpPr/>
          <p:nvPr/>
        </p:nvSpPr>
        <p:spPr>
          <a:xfrm>
            <a:off x="7955279" y="4617720"/>
            <a:ext cx="164592" cy="164592"/>
          </a:xfrm>
          <a:prstGeom prst="ellipse"/>
          <a:solidFill>
            <a:srgbClr val="4B8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59" name="TextBox 33"/>
          <p:cNvSpPr txBox="1"/>
          <p:nvPr/>
        </p:nvSpPr>
        <p:spPr>
          <a:xfrm>
            <a:off x="8275320" y="4581144"/>
            <a:ext cx="2377440" cy="256032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1100">
                <a:solidFill>
                  <a:srgbClr val="1E3052"/>
                </a:solidFill>
                <a:latin typeface="Aptos"/>
              </a:rPr>
              <a:t>Guesswork</a:t>
            </a:r>
          </a:p>
        </p:txBody>
      </p:sp>
      <p:sp>
        <p:nvSpPr>
          <p:cNvPr id="1048660" name="TextBox 34"/>
          <p:cNvSpPr txBox="1"/>
          <p:nvPr/>
        </p:nvSpPr>
        <p:spPr>
          <a:xfrm>
            <a:off x="7909560" y="5285232"/>
            <a:ext cx="3200400" cy="292608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1400">
                <a:solidFill>
                  <a:srgbClr val="DA6F9D"/>
                </a:solidFill>
                <a:latin typeface="Aptos"/>
              </a:rPr>
              <a:t>→ uncertainty</a:t>
            </a:r>
          </a:p>
        </p:txBody>
      </p:sp>
      <p:sp>
        <p:nvSpPr>
          <p:cNvPr id="1048661" name="TextBox 35"/>
          <p:cNvSpPr txBox="1"/>
          <p:nvPr/>
        </p:nvSpPr>
        <p:spPr>
          <a:xfrm>
            <a:off x="7909560" y="5623560"/>
            <a:ext cx="3200400" cy="256032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0" sz="1100">
                <a:solidFill>
                  <a:srgbClr val="41506A"/>
                </a:solidFill>
                <a:latin typeface="Aptos"/>
              </a:rPr>
              <a:t>→ mismatched choices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27" name=""/>
        <p:cNvGrpSpPr/>
        <p:nvPr/>
      </p:nvGrpSpPr>
      <p:grpSpPr>
        <a:xfrm/>
      </p:grpSpPr>
      <p:sp>
        <p:nvSpPr>
          <p:cNvPr id="1048662" name="Rectangle 1"/>
          <p:cNvSpPr/>
          <p:nvPr/>
        </p:nvSpPr>
        <p:spPr>
          <a:xfrm>
            <a:off x="640080" y="182880"/>
            <a:ext cx="1234440" cy="41148"/>
          </a:xfrm>
          <a:prstGeom prst="rect"/>
          <a:solidFill>
            <a:srgbClr val="25A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63" name="Rectangle 2"/>
          <p:cNvSpPr/>
          <p:nvPr/>
        </p:nvSpPr>
        <p:spPr>
          <a:xfrm>
            <a:off x="1901952" y="182880"/>
            <a:ext cx="731520" cy="41148"/>
          </a:xfrm>
          <a:prstGeom prst="rect"/>
          <a:solidFill>
            <a:srgbClr val="8B6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64" name="TextBox 3"/>
          <p:cNvSpPr txBox="1"/>
          <p:nvPr/>
        </p:nvSpPr>
        <p:spPr>
          <a:xfrm>
            <a:off x="640080" y="6565392"/>
            <a:ext cx="4572000" cy="193040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700">
                <a:solidFill>
                  <a:srgbClr val="77859C"/>
                </a:solidFill>
                <a:latin typeface="Aptos"/>
              </a:rPr>
              <a:t>EDUSELECT AI  •  HACKATHON 2026</a:t>
            </a:r>
          </a:p>
        </p:txBody>
      </p:sp>
      <p:sp>
        <p:nvSpPr>
          <p:cNvPr id="1048665" name="TextBox 4"/>
          <p:cNvSpPr txBox="1"/>
          <p:nvPr/>
        </p:nvSpPr>
        <p:spPr>
          <a:xfrm>
            <a:off x="11064240" y="384048"/>
            <a:ext cx="457200" cy="201168"/>
          </a:xfrm>
          <a:prstGeom prst="rect"/>
          <a:noFill/>
        </p:spPr>
        <p:txBody>
          <a:bodyPr wrap="square">
            <a:spAutoFit/>
          </a:bodyPr>
          <a:p>
            <a:pPr algn="r"/>
            <a:r>
              <a:rPr b="1" sz="900">
                <a:solidFill>
                  <a:srgbClr val="77859C"/>
                </a:solidFill>
                <a:latin typeface="Aptos"/>
              </a:rPr>
              <a:t>03</a:t>
            </a:r>
          </a:p>
        </p:txBody>
      </p:sp>
      <p:sp>
        <p:nvSpPr>
          <p:cNvPr id="1048666" name="TextBox 5"/>
          <p:cNvSpPr txBox="1"/>
          <p:nvPr/>
        </p:nvSpPr>
        <p:spPr>
          <a:xfrm>
            <a:off x="640080" y="347472"/>
            <a:ext cx="6400800" cy="228600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900">
                <a:solidFill>
                  <a:srgbClr val="25AEB0"/>
                </a:solidFill>
                <a:latin typeface="Aptos"/>
              </a:rPr>
              <a:t>02 • OUR INNOVATION</a:t>
            </a:r>
          </a:p>
        </p:txBody>
      </p:sp>
      <p:sp>
        <p:nvSpPr>
          <p:cNvPr id="1048667" name="TextBox 6"/>
          <p:cNvSpPr txBox="1"/>
          <p:nvPr/>
        </p:nvSpPr>
        <p:spPr>
          <a:xfrm>
            <a:off x="640080" y="658368"/>
            <a:ext cx="10698480" cy="502920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2700">
                <a:solidFill>
                  <a:srgbClr val="1E3052"/>
                </a:solidFill>
                <a:latin typeface="Aptos"/>
              </a:rPr>
              <a:t>EduSelect AI creates a learning fingerprint.</a:t>
            </a:r>
          </a:p>
        </p:txBody>
      </p:sp>
      <p:sp>
        <p:nvSpPr>
          <p:cNvPr id="1048668" name="TextBox 7"/>
          <p:cNvSpPr txBox="1"/>
          <p:nvPr/>
        </p:nvSpPr>
        <p:spPr>
          <a:xfrm>
            <a:off x="640080" y="1188720"/>
            <a:ext cx="10789920" cy="231140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0" sz="1000">
                <a:solidFill>
                  <a:srgbClr val="77859C"/>
                </a:solidFill>
                <a:latin typeface="Aptos"/>
              </a:rPr>
              <a:t>Multiple student signals are combined to generate personalized and explainable subject suggestions.</a:t>
            </a:r>
          </a:p>
        </p:txBody>
      </p:sp>
      <p:sp>
        <p:nvSpPr>
          <p:cNvPr id="1048669" name="Rounded Rectangle 8"/>
          <p:cNvSpPr/>
          <p:nvPr/>
        </p:nvSpPr>
        <p:spPr>
          <a:xfrm>
            <a:off x="868680" y="1874519"/>
            <a:ext cx="2057400" cy="566928"/>
          </a:xfrm>
          <a:prstGeom prst="roundRect"/>
          <a:solidFill>
            <a:srgbClr val="E5F7F6"/>
          </a:solidFill>
          <a:ln>
            <a:solidFill>
              <a:srgbClr val="E1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70" name="TextBox 9"/>
          <p:cNvSpPr txBox="1"/>
          <p:nvPr/>
        </p:nvSpPr>
        <p:spPr>
          <a:xfrm>
            <a:off x="1033271" y="1984248"/>
            <a:ext cx="1737360" cy="218441"/>
          </a:xfrm>
          <a:prstGeom prst="rect"/>
          <a:noFill/>
        </p:spPr>
        <p:txBody>
          <a:bodyPr wrap="square">
            <a:spAutoFit/>
          </a:bodyPr>
          <a:p>
            <a:pPr algn="ctr"/>
            <a:r>
              <a:rPr b="1" sz="900">
                <a:solidFill>
                  <a:srgbClr val="1E3052"/>
                </a:solidFill>
                <a:latin typeface="Aptos"/>
              </a:rPr>
              <a:t>INTEREST</a:t>
            </a:r>
          </a:p>
        </p:txBody>
      </p:sp>
      <p:sp>
        <p:nvSpPr>
          <p:cNvPr id="1048671" name="Rounded Rectangle 10"/>
          <p:cNvSpPr/>
          <p:nvPr/>
        </p:nvSpPr>
        <p:spPr>
          <a:xfrm>
            <a:off x="868680" y="3246120"/>
            <a:ext cx="2057400" cy="566928"/>
          </a:xfrm>
          <a:prstGeom prst="roundRect"/>
          <a:solidFill>
            <a:srgbClr val="EAF1FD"/>
          </a:solidFill>
          <a:ln>
            <a:solidFill>
              <a:srgbClr val="E1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72" name="TextBox 11"/>
          <p:cNvSpPr txBox="1"/>
          <p:nvPr/>
        </p:nvSpPr>
        <p:spPr>
          <a:xfrm>
            <a:off x="1033271" y="3355848"/>
            <a:ext cx="1737360" cy="218440"/>
          </a:xfrm>
          <a:prstGeom prst="rect"/>
          <a:noFill/>
        </p:spPr>
        <p:txBody>
          <a:bodyPr wrap="square">
            <a:spAutoFit/>
          </a:bodyPr>
          <a:p>
            <a:pPr algn="ctr"/>
            <a:r>
              <a:rPr b="1" sz="900">
                <a:solidFill>
                  <a:srgbClr val="1E3052"/>
                </a:solidFill>
                <a:latin typeface="Aptos"/>
              </a:rPr>
              <a:t>SKILLS</a:t>
            </a:r>
          </a:p>
        </p:txBody>
      </p:sp>
      <p:sp>
        <p:nvSpPr>
          <p:cNvPr id="1048673" name="Rounded Rectangle 12"/>
          <p:cNvSpPr/>
          <p:nvPr/>
        </p:nvSpPr>
        <p:spPr>
          <a:xfrm>
            <a:off x="868680" y="4617720"/>
            <a:ext cx="2057400" cy="566928"/>
          </a:xfrm>
          <a:prstGeom prst="roundRect"/>
          <a:solidFill>
            <a:srgbClr val="FCF6E7"/>
          </a:solidFill>
          <a:ln>
            <a:solidFill>
              <a:srgbClr val="E1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74" name="TextBox 13"/>
          <p:cNvSpPr txBox="1"/>
          <p:nvPr/>
        </p:nvSpPr>
        <p:spPr>
          <a:xfrm>
            <a:off x="1033271" y="4727448"/>
            <a:ext cx="1737360" cy="218440"/>
          </a:xfrm>
          <a:prstGeom prst="rect"/>
          <a:noFill/>
        </p:spPr>
        <p:txBody>
          <a:bodyPr wrap="square">
            <a:spAutoFit/>
          </a:bodyPr>
          <a:p>
            <a:pPr algn="ctr"/>
            <a:r>
              <a:rPr b="1" sz="900">
                <a:solidFill>
                  <a:srgbClr val="1E3052"/>
                </a:solidFill>
                <a:latin typeface="Aptos"/>
              </a:rPr>
              <a:t>ACADEMICS</a:t>
            </a:r>
          </a:p>
        </p:txBody>
      </p:sp>
      <p:sp>
        <p:nvSpPr>
          <p:cNvPr id="1048675" name="Rounded Rectangle 14"/>
          <p:cNvSpPr/>
          <p:nvPr/>
        </p:nvSpPr>
        <p:spPr>
          <a:xfrm>
            <a:off x="9144000" y="1874519"/>
            <a:ext cx="2057400" cy="566928"/>
          </a:xfrm>
          <a:prstGeom prst="roundRect"/>
          <a:solidFill>
            <a:srgbClr val="E9F7F0"/>
          </a:solidFill>
          <a:ln>
            <a:solidFill>
              <a:srgbClr val="E1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76" name="TextBox 15"/>
          <p:cNvSpPr txBox="1"/>
          <p:nvPr/>
        </p:nvSpPr>
        <p:spPr>
          <a:xfrm>
            <a:off x="9308592" y="1984248"/>
            <a:ext cx="1737360" cy="218441"/>
          </a:xfrm>
          <a:prstGeom prst="rect"/>
          <a:noFill/>
        </p:spPr>
        <p:txBody>
          <a:bodyPr wrap="square">
            <a:spAutoFit/>
          </a:bodyPr>
          <a:p>
            <a:pPr algn="ctr"/>
            <a:r>
              <a:rPr b="1" sz="900">
                <a:solidFill>
                  <a:srgbClr val="1E3052"/>
                </a:solidFill>
                <a:latin typeface="Aptos"/>
              </a:rPr>
              <a:t>CAREER GOAL</a:t>
            </a:r>
          </a:p>
        </p:txBody>
      </p:sp>
      <p:sp>
        <p:nvSpPr>
          <p:cNvPr id="1048677" name="Rounded Rectangle 16"/>
          <p:cNvSpPr/>
          <p:nvPr/>
        </p:nvSpPr>
        <p:spPr>
          <a:xfrm>
            <a:off x="9144000" y="3246120"/>
            <a:ext cx="2057400" cy="566928"/>
          </a:xfrm>
          <a:prstGeom prst="roundRect"/>
          <a:solidFill>
            <a:srgbClr val="FCEFF5"/>
          </a:solidFill>
          <a:ln>
            <a:solidFill>
              <a:srgbClr val="E1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78" name="TextBox 17"/>
          <p:cNvSpPr txBox="1"/>
          <p:nvPr/>
        </p:nvSpPr>
        <p:spPr>
          <a:xfrm>
            <a:off x="9308592" y="3355848"/>
            <a:ext cx="1737360" cy="218440"/>
          </a:xfrm>
          <a:prstGeom prst="rect"/>
          <a:noFill/>
        </p:spPr>
        <p:txBody>
          <a:bodyPr wrap="square">
            <a:spAutoFit/>
          </a:bodyPr>
          <a:p>
            <a:pPr algn="ctr"/>
            <a:r>
              <a:rPr b="1" sz="900">
                <a:solidFill>
                  <a:srgbClr val="1E3052"/>
                </a:solidFill>
                <a:latin typeface="Aptos"/>
              </a:rPr>
              <a:t>LEARNING STYLE</a:t>
            </a:r>
          </a:p>
        </p:txBody>
      </p:sp>
      <p:sp>
        <p:nvSpPr>
          <p:cNvPr id="1048679" name="Rounded Rectangle 18"/>
          <p:cNvSpPr/>
          <p:nvPr/>
        </p:nvSpPr>
        <p:spPr>
          <a:xfrm>
            <a:off x="9144000" y="4617720"/>
            <a:ext cx="2057400" cy="566928"/>
          </a:xfrm>
          <a:prstGeom prst="roundRect"/>
          <a:solidFill>
            <a:srgbClr val="F2EDFB"/>
          </a:solidFill>
          <a:ln>
            <a:solidFill>
              <a:srgbClr val="E1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80" name="TextBox 19"/>
          <p:cNvSpPr txBox="1"/>
          <p:nvPr/>
        </p:nvSpPr>
        <p:spPr>
          <a:xfrm>
            <a:off x="9308592" y="4727448"/>
            <a:ext cx="1737360" cy="218440"/>
          </a:xfrm>
          <a:prstGeom prst="rect"/>
          <a:noFill/>
        </p:spPr>
        <p:txBody>
          <a:bodyPr wrap="square">
            <a:spAutoFit/>
          </a:bodyPr>
          <a:p>
            <a:pPr algn="ctr"/>
            <a:r>
              <a:rPr b="1" sz="900">
                <a:solidFill>
                  <a:srgbClr val="1E3052"/>
                </a:solidFill>
                <a:latin typeface="Aptos"/>
              </a:rPr>
              <a:t>SUBJECT DATA</a:t>
            </a:r>
          </a:p>
        </p:txBody>
      </p:sp>
      <p:sp>
        <p:nvSpPr>
          <p:cNvPr id="1048681" name="Oval 20"/>
          <p:cNvSpPr/>
          <p:nvPr/>
        </p:nvSpPr>
        <p:spPr>
          <a:xfrm>
            <a:off x="5138928" y="2514600"/>
            <a:ext cx="1920240" cy="1920240"/>
          </a:xfrm>
          <a:prstGeom prst="ellipse"/>
          <a:solidFill>
            <a:srgbClr val="FFFFFF"/>
          </a:solidFill>
          <a:ln w="25400">
            <a:solidFill>
              <a:srgbClr val="4B8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82" name="Oval 21"/>
          <p:cNvSpPr/>
          <p:nvPr/>
        </p:nvSpPr>
        <p:spPr>
          <a:xfrm>
            <a:off x="5390388" y="2766060"/>
            <a:ext cx="1417320" cy="1417320"/>
          </a:xfrm>
          <a:prstGeom prst="ellipse"/>
          <a:solidFill>
            <a:srgbClr val="FFFFFF"/>
          </a:solidFill>
          <a:ln w="25400">
            <a:solidFill>
              <a:srgbClr val="8B6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83" name="Oval 22"/>
          <p:cNvSpPr/>
          <p:nvPr/>
        </p:nvSpPr>
        <p:spPr>
          <a:xfrm>
            <a:off x="5664708" y="3040380"/>
            <a:ext cx="868680" cy="868680"/>
          </a:xfrm>
          <a:prstGeom prst="ellipse"/>
          <a:solidFill>
            <a:srgbClr val="FFFFFF"/>
          </a:solidFill>
          <a:ln w="25400">
            <a:solidFill>
              <a:srgbClr val="25A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84" name="TextBox 23"/>
          <p:cNvSpPr txBox="1"/>
          <p:nvPr/>
        </p:nvSpPr>
        <p:spPr>
          <a:xfrm>
            <a:off x="5532120" y="3182112"/>
            <a:ext cx="1143000" cy="434340"/>
          </a:xfrm>
          <a:prstGeom prst="rect"/>
          <a:noFill/>
        </p:spPr>
        <p:txBody>
          <a:bodyPr wrap="square">
            <a:spAutoFit/>
          </a:bodyPr>
          <a:p>
            <a:pPr algn="ctr"/>
            <a:r>
              <a:rPr b="1" sz="2300">
                <a:solidFill>
                  <a:srgbClr val="1E3052"/>
                </a:solidFill>
                <a:latin typeface="Aptos"/>
              </a:rPr>
              <a:t>AI</a:t>
            </a:r>
          </a:p>
        </p:txBody>
      </p:sp>
      <p:sp>
        <p:nvSpPr>
          <p:cNvPr id="1048685" name="TextBox 24"/>
          <p:cNvSpPr txBox="1"/>
          <p:nvPr/>
        </p:nvSpPr>
        <p:spPr>
          <a:xfrm>
            <a:off x="4572000" y="4709160"/>
            <a:ext cx="3017520" cy="231140"/>
          </a:xfrm>
          <a:prstGeom prst="rect"/>
          <a:noFill/>
        </p:spPr>
        <p:txBody>
          <a:bodyPr wrap="square">
            <a:spAutoFit/>
          </a:bodyPr>
          <a:p>
            <a:pPr algn="ctr"/>
            <a:r>
              <a:rPr b="1" sz="1000">
                <a:solidFill>
                  <a:srgbClr val="25AEB0"/>
                </a:solidFill>
                <a:latin typeface="Aptos"/>
              </a:rPr>
              <a:t>LEARNING FINGERPRINT</a:t>
            </a:r>
          </a:p>
        </p:txBody>
      </p:sp>
      <p:sp>
        <p:nvSpPr>
          <p:cNvPr id="1048686" name="TextBox 25"/>
          <p:cNvSpPr txBox="1"/>
          <p:nvPr/>
        </p:nvSpPr>
        <p:spPr>
          <a:xfrm>
            <a:off x="4434840" y="5074920"/>
            <a:ext cx="3291840" cy="574041"/>
          </a:xfrm>
          <a:prstGeom prst="rect"/>
          <a:noFill/>
        </p:spPr>
        <p:txBody>
          <a:bodyPr wrap="square">
            <a:spAutoFit/>
          </a:bodyPr>
          <a:p>
            <a:pPr algn="ctr"/>
            <a:r>
              <a:rPr b="1" sz="1600">
                <a:solidFill>
                  <a:srgbClr val="1E3052"/>
                </a:solidFill>
                <a:latin typeface="Aptos"/>
              </a:rPr>
              <a:t>Personalized subject
match + explanation</a:t>
            </a:r>
          </a:p>
        </p:txBody>
      </p:sp>
      <p:cxnSp>
        <p:nvCxnSpPr>
          <p:cNvPr id="3145728" name="Connector 26"/>
          <p:cNvCxnSpPr>
            <a:cxnSpLocks/>
          </p:cNvCxnSpPr>
          <p:nvPr/>
        </p:nvCxnSpPr>
        <p:spPr>
          <a:xfrm>
            <a:off x="2926080" y="2157984"/>
            <a:ext cx="2240280" cy="1316736"/>
          </a:xfrm>
          <a:prstGeom prst="line"/>
          <a:ln w="19050">
            <a:solidFill>
              <a:srgbClr val="E1E7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29" name="Connector 27"/>
          <p:cNvCxnSpPr>
            <a:cxnSpLocks/>
          </p:cNvCxnSpPr>
          <p:nvPr/>
        </p:nvCxnSpPr>
        <p:spPr>
          <a:xfrm flipV="1">
            <a:off x="2926080" y="3474720"/>
            <a:ext cx="2240280" cy="54864"/>
          </a:xfrm>
          <a:prstGeom prst="line"/>
          <a:ln w="19050">
            <a:solidFill>
              <a:srgbClr val="E1E7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30" name="Connector 28"/>
          <p:cNvCxnSpPr>
            <a:cxnSpLocks/>
          </p:cNvCxnSpPr>
          <p:nvPr/>
        </p:nvCxnSpPr>
        <p:spPr>
          <a:xfrm flipV="1">
            <a:off x="2926080" y="3474720"/>
            <a:ext cx="2240280" cy="1426464"/>
          </a:xfrm>
          <a:prstGeom prst="line"/>
          <a:ln w="19050">
            <a:solidFill>
              <a:srgbClr val="E1E7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31" name="Connector 29"/>
          <p:cNvCxnSpPr>
            <a:cxnSpLocks/>
          </p:cNvCxnSpPr>
          <p:nvPr/>
        </p:nvCxnSpPr>
        <p:spPr>
          <a:xfrm flipH="1">
            <a:off x="7059168" y="2157984"/>
            <a:ext cx="2084832" cy="1316736"/>
          </a:xfrm>
          <a:prstGeom prst="line"/>
          <a:ln w="19050">
            <a:solidFill>
              <a:srgbClr val="E1E7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32" name="Connector 30"/>
          <p:cNvCxnSpPr>
            <a:cxnSpLocks/>
          </p:cNvCxnSpPr>
          <p:nvPr/>
        </p:nvCxnSpPr>
        <p:spPr>
          <a:xfrm flipH="1" flipV="1">
            <a:off x="7059168" y="3474720"/>
            <a:ext cx="2084832" cy="54864"/>
          </a:xfrm>
          <a:prstGeom prst="line"/>
          <a:ln w="19050">
            <a:solidFill>
              <a:srgbClr val="E1E7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33" name="Connector 31"/>
          <p:cNvCxnSpPr>
            <a:cxnSpLocks/>
          </p:cNvCxnSpPr>
          <p:nvPr/>
        </p:nvCxnSpPr>
        <p:spPr>
          <a:xfrm flipH="1" flipV="1">
            <a:off x="7059168" y="3474720"/>
            <a:ext cx="2084832" cy="1426464"/>
          </a:xfrm>
          <a:prstGeom prst="line"/>
          <a:ln w="19050">
            <a:solidFill>
              <a:srgbClr val="E1E7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28" name=""/>
        <p:cNvGrpSpPr/>
        <p:nvPr/>
      </p:nvGrpSpPr>
      <p:grpSpPr>
        <a:xfrm/>
      </p:grpSpPr>
      <p:sp>
        <p:nvSpPr>
          <p:cNvPr id="1048687" name="Rectangle 1"/>
          <p:cNvSpPr/>
          <p:nvPr/>
        </p:nvSpPr>
        <p:spPr>
          <a:xfrm>
            <a:off x="640080" y="182880"/>
            <a:ext cx="1234440" cy="41148"/>
          </a:xfrm>
          <a:prstGeom prst="rect"/>
          <a:solidFill>
            <a:srgbClr val="25A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88" name="Rectangle 2"/>
          <p:cNvSpPr/>
          <p:nvPr/>
        </p:nvSpPr>
        <p:spPr>
          <a:xfrm>
            <a:off x="1901952" y="182880"/>
            <a:ext cx="731520" cy="41148"/>
          </a:xfrm>
          <a:prstGeom prst="rect"/>
          <a:solidFill>
            <a:srgbClr val="8B6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89" name="TextBox 3"/>
          <p:cNvSpPr txBox="1"/>
          <p:nvPr/>
        </p:nvSpPr>
        <p:spPr>
          <a:xfrm>
            <a:off x="640080" y="6565392"/>
            <a:ext cx="4572000" cy="193040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700">
                <a:solidFill>
                  <a:srgbClr val="77859C"/>
                </a:solidFill>
                <a:latin typeface="Aptos"/>
              </a:rPr>
              <a:t>EDUSELECT AI  •  HACKATHON 2026</a:t>
            </a:r>
          </a:p>
        </p:txBody>
      </p:sp>
      <p:sp>
        <p:nvSpPr>
          <p:cNvPr id="1048690" name="TextBox 4"/>
          <p:cNvSpPr txBox="1"/>
          <p:nvPr/>
        </p:nvSpPr>
        <p:spPr>
          <a:xfrm>
            <a:off x="11064240" y="384048"/>
            <a:ext cx="457200" cy="201168"/>
          </a:xfrm>
          <a:prstGeom prst="rect"/>
          <a:noFill/>
        </p:spPr>
        <p:txBody>
          <a:bodyPr wrap="square">
            <a:spAutoFit/>
          </a:bodyPr>
          <a:p>
            <a:pPr algn="r"/>
            <a:r>
              <a:rPr b="1" sz="900">
                <a:solidFill>
                  <a:srgbClr val="77859C"/>
                </a:solidFill>
                <a:latin typeface="Aptos"/>
              </a:rPr>
              <a:t>04</a:t>
            </a:r>
          </a:p>
        </p:txBody>
      </p:sp>
      <p:sp>
        <p:nvSpPr>
          <p:cNvPr id="1048691" name="TextBox 5"/>
          <p:cNvSpPr txBox="1"/>
          <p:nvPr/>
        </p:nvSpPr>
        <p:spPr>
          <a:xfrm>
            <a:off x="640080" y="347472"/>
            <a:ext cx="6400800" cy="228600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900">
                <a:solidFill>
                  <a:srgbClr val="25AEB0"/>
                </a:solidFill>
                <a:latin typeface="Aptos"/>
              </a:rPr>
              <a:t>03 • HOW IT WORKS</a:t>
            </a:r>
          </a:p>
        </p:txBody>
      </p:sp>
      <p:sp>
        <p:nvSpPr>
          <p:cNvPr id="1048692" name="TextBox 6"/>
          <p:cNvSpPr txBox="1"/>
          <p:nvPr/>
        </p:nvSpPr>
        <p:spPr>
          <a:xfrm>
            <a:off x="640080" y="658368"/>
            <a:ext cx="10698480" cy="502920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2700">
                <a:solidFill>
                  <a:srgbClr val="1E3052"/>
                </a:solidFill>
                <a:latin typeface="Aptos"/>
              </a:rPr>
              <a:t>One journey. Six intelligent steps.</a:t>
            </a:r>
          </a:p>
        </p:txBody>
      </p:sp>
      <p:sp>
        <p:nvSpPr>
          <p:cNvPr id="1048693" name="TextBox 7"/>
          <p:cNvSpPr txBox="1"/>
          <p:nvPr/>
        </p:nvSpPr>
        <p:spPr>
          <a:xfrm>
            <a:off x="640080" y="1188720"/>
            <a:ext cx="10789920" cy="231140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0" sz="1000">
                <a:solidFill>
                  <a:srgbClr val="77859C"/>
                </a:solidFill>
                <a:latin typeface="Aptos"/>
              </a:rPr>
              <a:t>A transparent workflow makes the recommendation process easy to understand.</a:t>
            </a:r>
          </a:p>
        </p:txBody>
      </p:sp>
      <p:sp>
        <p:nvSpPr>
          <p:cNvPr id="1048694" name="Rounded Rectangle 8"/>
          <p:cNvSpPr/>
          <p:nvPr/>
        </p:nvSpPr>
        <p:spPr>
          <a:xfrm>
            <a:off x="640080" y="1874519"/>
            <a:ext cx="1600200" cy="3154680"/>
          </a:xfrm>
          <a:prstGeom prst="roundRect"/>
          <a:solidFill>
            <a:srgbClr val="FFFFFF"/>
          </a:solidFill>
          <a:ln>
            <a:solidFill>
              <a:srgbClr val="E1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95" name="Oval 9"/>
          <p:cNvSpPr/>
          <p:nvPr/>
        </p:nvSpPr>
        <p:spPr>
          <a:xfrm>
            <a:off x="822959" y="2084831"/>
            <a:ext cx="365760" cy="365760"/>
          </a:xfrm>
          <a:prstGeom prst="ellipse"/>
          <a:solidFill>
            <a:srgbClr val="25A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96" name="TextBox 10"/>
          <p:cNvSpPr txBox="1"/>
          <p:nvPr/>
        </p:nvSpPr>
        <p:spPr>
          <a:xfrm>
            <a:off x="822959" y="2139696"/>
            <a:ext cx="365760" cy="182880"/>
          </a:xfrm>
          <a:prstGeom prst="rect"/>
          <a:noFill/>
        </p:spPr>
        <p:txBody>
          <a:bodyPr wrap="square">
            <a:spAutoFit/>
          </a:bodyPr>
          <a:p>
            <a:pPr algn="ctr"/>
            <a:r>
              <a:rPr b="1" sz="70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48697" name="TextBox 11"/>
          <p:cNvSpPr txBox="1"/>
          <p:nvPr/>
        </p:nvSpPr>
        <p:spPr>
          <a:xfrm>
            <a:off x="822959" y="2651760"/>
            <a:ext cx="1280160" cy="256541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1100">
                <a:solidFill>
                  <a:srgbClr val="1E3052"/>
                </a:solidFill>
                <a:latin typeface="Aptos"/>
              </a:rPr>
              <a:t>PROFILE</a:t>
            </a:r>
          </a:p>
        </p:txBody>
      </p:sp>
      <p:sp>
        <p:nvSpPr>
          <p:cNvPr id="1048698" name="TextBox 12"/>
          <p:cNvSpPr txBox="1"/>
          <p:nvPr/>
        </p:nvSpPr>
        <p:spPr>
          <a:xfrm>
            <a:off x="822959" y="3154680"/>
            <a:ext cx="1280160" cy="510541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0" sz="1000">
                <a:solidFill>
                  <a:srgbClr val="41506A"/>
                </a:solidFill>
                <a:latin typeface="Aptos"/>
              </a:rPr>
              <a:t>Interests
Skills
Goals</a:t>
            </a:r>
          </a:p>
        </p:txBody>
      </p:sp>
      <p:cxnSp>
        <p:nvCxnSpPr>
          <p:cNvPr id="3145734" name="Connector 13"/>
          <p:cNvCxnSpPr>
            <a:cxnSpLocks/>
          </p:cNvCxnSpPr>
          <p:nvPr/>
        </p:nvCxnSpPr>
        <p:spPr>
          <a:xfrm>
            <a:off x="2240280" y="3429000"/>
            <a:ext cx="274320" cy="0"/>
          </a:xfrm>
          <a:prstGeom prst="line"/>
          <a:ln w="21590">
            <a:solidFill>
              <a:srgbClr val="4B8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699" name="Rounded Rectangle 14"/>
          <p:cNvSpPr/>
          <p:nvPr/>
        </p:nvSpPr>
        <p:spPr>
          <a:xfrm>
            <a:off x="2542032" y="1874519"/>
            <a:ext cx="1600200" cy="3154680"/>
          </a:xfrm>
          <a:prstGeom prst="roundRect"/>
          <a:solidFill>
            <a:srgbClr val="FFFFFF"/>
          </a:solidFill>
          <a:ln>
            <a:solidFill>
              <a:srgbClr val="E1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00" name="Oval 15"/>
          <p:cNvSpPr/>
          <p:nvPr/>
        </p:nvSpPr>
        <p:spPr>
          <a:xfrm>
            <a:off x="2724912" y="2084831"/>
            <a:ext cx="365760" cy="365760"/>
          </a:xfrm>
          <a:prstGeom prst="ellipse"/>
          <a:solidFill>
            <a:srgbClr val="4B8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01" name="TextBox 16"/>
          <p:cNvSpPr txBox="1"/>
          <p:nvPr/>
        </p:nvSpPr>
        <p:spPr>
          <a:xfrm>
            <a:off x="2724912" y="2139696"/>
            <a:ext cx="365760" cy="182880"/>
          </a:xfrm>
          <a:prstGeom prst="rect"/>
          <a:noFill/>
        </p:spPr>
        <p:txBody>
          <a:bodyPr wrap="square">
            <a:spAutoFit/>
          </a:bodyPr>
          <a:p>
            <a:pPr algn="ctr"/>
            <a:r>
              <a:rPr b="1" sz="70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048702" name="TextBox 17"/>
          <p:cNvSpPr txBox="1"/>
          <p:nvPr/>
        </p:nvSpPr>
        <p:spPr>
          <a:xfrm>
            <a:off x="2724912" y="2651760"/>
            <a:ext cx="1280160" cy="256541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1100">
                <a:solidFill>
                  <a:srgbClr val="1E3052"/>
                </a:solidFill>
                <a:latin typeface="Aptos"/>
              </a:rPr>
              <a:t>ASSESS</a:t>
            </a:r>
          </a:p>
        </p:txBody>
      </p:sp>
      <p:sp>
        <p:nvSpPr>
          <p:cNvPr id="1048703" name="TextBox 18"/>
          <p:cNvSpPr txBox="1"/>
          <p:nvPr/>
        </p:nvSpPr>
        <p:spPr>
          <a:xfrm>
            <a:off x="2724912" y="3154680"/>
            <a:ext cx="1280160" cy="370841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0" sz="1000">
                <a:solidFill>
                  <a:srgbClr val="41506A"/>
                </a:solidFill>
                <a:latin typeface="Aptos"/>
              </a:rPr>
              <a:t>Quick
questions</a:t>
            </a:r>
          </a:p>
        </p:txBody>
      </p:sp>
      <p:cxnSp>
        <p:nvCxnSpPr>
          <p:cNvPr id="3145735" name="Connector 19"/>
          <p:cNvCxnSpPr>
            <a:cxnSpLocks/>
          </p:cNvCxnSpPr>
          <p:nvPr/>
        </p:nvCxnSpPr>
        <p:spPr>
          <a:xfrm>
            <a:off x="4142232" y="3429000"/>
            <a:ext cx="274320" cy="0"/>
          </a:xfrm>
          <a:prstGeom prst="line"/>
          <a:ln w="21590">
            <a:solidFill>
              <a:srgbClr val="4B8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704" name="Rounded Rectangle 20"/>
          <p:cNvSpPr/>
          <p:nvPr/>
        </p:nvSpPr>
        <p:spPr>
          <a:xfrm>
            <a:off x="4443984" y="1874519"/>
            <a:ext cx="1600200" cy="3154680"/>
          </a:xfrm>
          <a:prstGeom prst="roundRect"/>
          <a:solidFill>
            <a:srgbClr val="FFFFFF"/>
          </a:solidFill>
          <a:ln>
            <a:solidFill>
              <a:srgbClr val="E1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05" name="Oval 21"/>
          <p:cNvSpPr/>
          <p:nvPr/>
        </p:nvSpPr>
        <p:spPr>
          <a:xfrm>
            <a:off x="4626864" y="2084831"/>
            <a:ext cx="365760" cy="365760"/>
          </a:xfrm>
          <a:prstGeom prst="ellipse"/>
          <a:solidFill>
            <a:srgbClr val="8B6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06" name="TextBox 22"/>
          <p:cNvSpPr txBox="1"/>
          <p:nvPr/>
        </p:nvSpPr>
        <p:spPr>
          <a:xfrm>
            <a:off x="4626864" y="2139696"/>
            <a:ext cx="365760" cy="182880"/>
          </a:xfrm>
          <a:prstGeom prst="rect"/>
          <a:noFill/>
        </p:spPr>
        <p:txBody>
          <a:bodyPr wrap="square">
            <a:spAutoFit/>
          </a:bodyPr>
          <a:p>
            <a:pPr algn="ctr"/>
            <a:r>
              <a:rPr b="1" sz="70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048707" name="TextBox 23"/>
          <p:cNvSpPr txBox="1"/>
          <p:nvPr/>
        </p:nvSpPr>
        <p:spPr>
          <a:xfrm>
            <a:off x="4626864" y="2651760"/>
            <a:ext cx="1280160" cy="256541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1100">
                <a:solidFill>
                  <a:srgbClr val="1E3052"/>
                </a:solidFill>
                <a:latin typeface="Aptos"/>
              </a:rPr>
              <a:t>ANALYZE</a:t>
            </a:r>
          </a:p>
        </p:txBody>
      </p:sp>
      <p:sp>
        <p:nvSpPr>
          <p:cNvPr id="1048708" name="TextBox 24"/>
          <p:cNvSpPr txBox="1"/>
          <p:nvPr/>
        </p:nvSpPr>
        <p:spPr>
          <a:xfrm>
            <a:off x="4626864" y="3154680"/>
            <a:ext cx="1280160" cy="370841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0" sz="1000">
                <a:solidFill>
                  <a:srgbClr val="41506A"/>
                </a:solidFill>
                <a:latin typeface="Aptos"/>
              </a:rPr>
              <a:t>Weighted
AI score</a:t>
            </a:r>
          </a:p>
        </p:txBody>
      </p:sp>
      <p:cxnSp>
        <p:nvCxnSpPr>
          <p:cNvPr id="3145736" name="Connector 25"/>
          <p:cNvCxnSpPr>
            <a:cxnSpLocks/>
          </p:cNvCxnSpPr>
          <p:nvPr/>
        </p:nvCxnSpPr>
        <p:spPr>
          <a:xfrm>
            <a:off x="6044184" y="3429000"/>
            <a:ext cx="274320" cy="0"/>
          </a:xfrm>
          <a:prstGeom prst="line"/>
          <a:ln w="21590">
            <a:solidFill>
              <a:srgbClr val="4B8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709" name="Rounded Rectangle 26"/>
          <p:cNvSpPr/>
          <p:nvPr/>
        </p:nvSpPr>
        <p:spPr>
          <a:xfrm>
            <a:off x="6345936" y="1874519"/>
            <a:ext cx="1600200" cy="3154680"/>
          </a:xfrm>
          <a:prstGeom prst="roundRect"/>
          <a:solidFill>
            <a:srgbClr val="FFFFFF"/>
          </a:solidFill>
          <a:ln>
            <a:solidFill>
              <a:srgbClr val="E1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10" name="Oval 27"/>
          <p:cNvSpPr/>
          <p:nvPr/>
        </p:nvSpPr>
        <p:spPr>
          <a:xfrm>
            <a:off x="6528816" y="2084831"/>
            <a:ext cx="365760" cy="365760"/>
          </a:xfrm>
          <a:prstGeom prst="ellipse"/>
          <a:solidFill>
            <a:srgbClr val="DA6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11" name="TextBox 28"/>
          <p:cNvSpPr txBox="1"/>
          <p:nvPr/>
        </p:nvSpPr>
        <p:spPr>
          <a:xfrm>
            <a:off x="6528816" y="2139696"/>
            <a:ext cx="365760" cy="182880"/>
          </a:xfrm>
          <a:prstGeom prst="rect"/>
          <a:noFill/>
        </p:spPr>
        <p:txBody>
          <a:bodyPr wrap="square">
            <a:spAutoFit/>
          </a:bodyPr>
          <a:p>
            <a:pPr algn="ctr"/>
            <a:r>
              <a:rPr b="1" sz="70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048712" name="TextBox 29"/>
          <p:cNvSpPr txBox="1"/>
          <p:nvPr/>
        </p:nvSpPr>
        <p:spPr>
          <a:xfrm>
            <a:off x="6528816" y="2651760"/>
            <a:ext cx="1280160" cy="256541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1100">
                <a:solidFill>
                  <a:srgbClr val="1E3052"/>
                </a:solidFill>
                <a:latin typeface="Aptos"/>
              </a:rPr>
              <a:t>MATCH</a:t>
            </a:r>
          </a:p>
        </p:txBody>
      </p:sp>
      <p:sp>
        <p:nvSpPr>
          <p:cNvPr id="1048713" name="TextBox 30"/>
          <p:cNvSpPr txBox="1"/>
          <p:nvPr/>
        </p:nvSpPr>
        <p:spPr>
          <a:xfrm>
            <a:off x="6528816" y="3154680"/>
            <a:ext cx="1280160" cy="370841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0" sz="1000">
                <a:solidFill>
                  <a:srgbClr val="41506A"/>
                </a:solidFill>
                <a:latin typeface="Aptos"/>
              </a:rPr>
              <a:t>Subject
compatibility</a:t>
            </a:r>
          </a:p>
        </p:txBody>
      </p:sp>
      <p:cxnSp>
        <p:nvCxnSpPr>
          <p:cNvPr id="3145737" name="Connector 31"/>
          <p:cNvCxnSpPr>
            <a:cxnSpLocks/>
          </p:cNvCxnSpPr>
          <p:nvPr/>
        </p:nvCxnSpPr>
        <p:spPr>
          <a:xfrm>
            <a:off x="7946136" y="3429000"/>
            <a:ext cx="274320" cy="0"/>
          </a:xfrm>
          <a:prstGeom prst="line"/>
          <a:ln w="21590">
            <a:solidFill>
              <a:srgbClr val="4B8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714" name="Rounded Rectangle 32"/>
          <p:cNvSpPr/>
          <p:nvPr/>
        </p:nvSpPr>
        <p:spPr>
          <a:xfrm>
            <a:off x="8247888" y="1874519"/>
            <a:ext cx="1600200" cy="3154680"/>
          </a:xfrm>
          <a:prstGeom prst="roundRect"/>
          <a:solidFill>
            <a:srgbClr val="FFFFFF"/>
          </a:solidFill>
          <a:ln>
            <a:solidFill>
              <a:srgbClr val="E1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15" name="Oval 33"/>
          <p:cNvSpPr/>
          <p:nvPr/>
        </p:nvSpPr>
        <p:spPr>
          <a:xfrm>
            <a:off x="8430767" y="2084831"/>
            <a:ext cx="365760" cy="365760"/>
          </a:xfrm>
          <a:prstGeom prst="ellipse"/>
          <a:solidFill>
            <a:srgbClr val="E2A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16" name="TextBox 34"/>
          <p:cNvSpPr txBox="1"/>
          <p:nvPr/>
        </p:nvSpPr>
        <p:spPr>
          <a:xfrm>
            <a:off x="8430767" y="2139696"/>
            <a:ext cx="365760" cy="182880"/>
          </a:xfrm>
          <a:prstGeom prst="rect"/>
          <a:noFill/>
        </p:spPr>
        <p:txBody>
          <a:bodyPr wrap="square">
            <a:spAutoFit/>
          </a:bodyPr>
          <a:p>
            <a:pPr algn="ctr"/>
            <a:r>
              <a:rPr b="1" sz="70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1048717" name="TextBox 35"/>
          <p:cNvSpPr txBox="1"/>
          <p:nvPr/>
        </p:nvSpPr>
        <p:spPr>
          <a:xfrm>
            <a:off x="8430767" y="2651760"/>
            <a:ext cx="1280160" cy="256541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1100">
                <a:solidFill>
                  <a:srgbClr val="1E3052"/>
                </a:solidFill>
                <a:latin typeface="Aptos"/>
              </a:rPr>
              <a:t>EXPLAIN</a:t>
            </a:r>
          </a:p>
        </p:txBody>
      </p:sp>
      <p:sp>
        <p:nvSpPr>
          <p:cNvPr id="1048718" name="TextBox 36"/>
          <p:cNvSpPr txBox="1"/>
          <p:nvPr/>
        </p:nvSpPr>
        <p:spPr>
          <a:xfrm>
            <a:off x="8430767" y="3154680"/>
            <a:ext cx="1280160" cy="370841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0" sz="1000">
                <a:solidFill>
                  <a:srgbClr val="41506A"/>
                </a:solidFill>
                <a:latin typeface="Aptos"/>
              </a:rPr>
              <a:t>Why this
subject?</a:t>
            </a:r>
          </a:p>
        </p:txBody>
      </p:sp>
      <p:cxnSp>
        <p:nvCxnSpPr>
          <p:cNvPr id="3145738" name="Connector 37"/>
          <p:cNvCxnSpPr>
            <a:cxnSpLocks/>
          </p:cNvCxnSpPr>
          <p:nvPr/>
        </p:nvCxnSpPr>
        <p:spPr>
          <a:xfrm>
            <a:off x="9848088" y="3429000"/>
            <a:ext cx="274320" cy="0"/>
          </a:xfrm>
          <a:prstGeom prst="line"/>
          <a:ln w="21590">
            <a:solidFill>
              <a:srgbClr val="4B8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719" name="Rounded Rectangle 38"/>
          <p:cNvSpPr/>
          <p:nvPr/>
        </p:nvSpPr>
        <p:spPr>
          <a:xfrm>
            <a:off x="10149840" y="1874519"/>
            <a:ext cx="1600200" cy="3154680"/>
          </a:xfrm>
          <a:prstGeom prst="roundRect"/>
          <a:solidFill>
            <a:srgbClr val="FFFFFF"/>
          </a:solidFill>
          <a:ln>
            <a:solidFill>
              <a:srgbClr val="E1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20" name="Oval 39"/>
          <p:cNvSpPr/>
          <p:nvPr/>
        </p:nvSpPr>
        <p:spPr>
          <a:xfrm>
            <a:off x="10332719" y="2084831"/>
            <a:ext cx="365760" cy="365760"/>
          </a:xfrm>
          <a:prstGeom prst="ellipse"/>
          <a:solidFill>
            <a:srgbClr val="41A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21" name="TextBox 40"/>
          <p:cNvSpPr txBox="1"/>
          <p:nvPr/>
        </p:nvSpPr>
        <p:spPr>
          <a:xfrm>
            <a:off x="10332719" y="2139696"/>
            <a:ext cx="365760" cy="182880"/>
          </a:xfrm>
          <a:prstGeom prst="rect"/>
          <a:noFill/>
        </p:spPr>
        <p:txBody>
          <a:bodyPr wrap="square">
            <a:spAutoFit/>
          </a:bodyPr>
          <a:p>
            <a:pPr algn="ctr"/>
            <a:r>
              <a:rPr b="1" sz="700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1048722" name="TextBox 41"/>
          <p:cNvSpPr txBox="1"/>
          <p:nvPr/>
        </p:nvSpPr>
        <p:spPr>
          <a:xfrm>
            <a:off x="10332719" y="2651760"/>
            <a:ext cx="1280160" cy="256541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1100">
                <a:solidFill>
                  <a:srgbClr val="1E3052"/>
                </a:solidFill>
                <a:latin typeface="Aptos"/>
              </a:rPr>
              <a:t>ACT</a:t>
            </a:r>
          </a:p>
        </p:txBody>
      </p:sp>
      <p:sp>
        <p:nvSpPr>
          <p:cNvPr id="1048723" name="TextBox 42"/>
          <p:cNvSpPr txBox="1"/>
          <p:nvPr/>
        </p:nvSpPr>
        <p:spPr>
          <a:xfrm>
            <a:off x="10332719" y="3154680"/>
            <a:ext cx="1280160" cy="370841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0" sz="1000">
                <a:solidFill>
                  <a:srgbClr val="41506A"/>
                </a:solidFill>
                <a:latin typeface="Aptos"/>
              </a:rPr>
              <a:t>Compare
&amp; choose</a:t>
            </a:r>
          </a:p>
        </p:txBody>
      </p:sp>
      <p:sp>
        <p:nvSpPr>
          <p:cNvPr id="1048724" name="Rounded Rectangle 43"/>
          <p:cNvSpPr/>
          <p:nvPr/>
        </p:nvSpPr>
        <p:spPr>
          <a:xfrm>
            <a:off x="1828800" y="5349240"/>
            <a:ext cx="8503920" cy="658368"/>
          </a:xfrm>
          <a:prstGeom prst="roundRect"/>
          <a:solidFill>
            <a:srgbClr val="E5F7F6"/>
          </a:solidFill>
          <a:ln>
            <a:solidFill>
              <a:srgbClr val="E1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25" name="TextBox 44"/>
          <p:cNvSpPr txBox="1"/>
          <p:nvPr/>
        </p:nvSpPr>
        <p:spPr>
          <a:xfrm>
            <a:off x="2011680" y="5504688"/>
            <a:ext cx="8138160" cy="231140"/>
          </a:xfrm>
          <a:prstGeom prst="rect"/>
          <a:noFill/>
        </p:spPr>
        <p:txBody>
          <a:bodyPr wrap="square">
            <a:spAutoFit/>
          </a:bodyPr>
          <a:p>
            <a:pPr algn="ctr"/>
            <a:r>
              <a:rPr b="1" sz="1000">
                <a:solidFill>
                  <a:srgbClr val="1E3052"/>
                </a:solidFill>
                <a:latin typeface="Aptos"/>
              </a:rPr>
              <a:t>MATCH SCORE = 30% Interest + 25% Skills + 20% Academics + 25% Career Fit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29" name=""/>
        <p:cNvGrpSpPr/>
        <p:nvPr/>
      </p:nvGrpSpPr>
      <p:grpSpPr>
        <a:xfrm/>
      </p:grpSpPr>
      <p:sp>
        <p:nvSpPr>
          <p:cNvPr id="1048726" name="Rectangle 1"/>
          <p:cNvSpPr/>
          <p:nvPr/>
        </p:nvSpPr>
        <p:spPr>
          <a:xfrm>
            <a:off x="640080" y="182880"/>
            <a:ext cx="1234440" cy="41148"/>
          </a:xfrm>
          <a:prstGeom prst="rect"/>
          <a:solidFill>
            <a:srgbClr val="25A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27" name="Rectangle 2"/>
          <p:cNvSpPr/>
          <p:nvPr/>
        </p:nvSpPr>
        <p:spPr>
          <a:xfrm>
            <a:off x="1901952" y="182880"/>
            <a:ext cx="731520" cy="41148"/>
          </a:xfrm>
          <a:prstGeom prst="rect"/>
          <a:solidFill>
            <a:srgbClr val="8B6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28" name="TextBox 3"/>
          <p:cNvSpPr txBox="1"/>
          <p:nvPr/>
        </p:nvSpPr>
        <p:spPr>
          <a:xfrm>
            <a:off x="640080" y="6565392"/>
            <a:ext cx="4572000" cy="193040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700">
                <a:solidFill>
                  <a:srgbClr val="77859C"/>
                </a:solidFill>
                <a:latin typeface="Aptos"/>
              </a:rPr>
              <a:t>EDUSELECT AI  •  HACKATHON 2026</a:t>
            </a:r>
          </a:p>
        </p:txBody>
      </p:sp>
      <p:sp>
        <p:nvSpPr>
          <p:cNvPr id="1048729" name="TextBox 4"/>
          <p:cNvSpPr txBox="1"/>
          <p:nvPr/>
        </p:nvSpPr>
        <p:spPr>
          <a:xfrm>
            <a:off x="11064240" y="384048"/>
            <a:ext cx="457200" cy="201168"/>
          </a:xfrm>
          <a:prstGeom prst="rect"/>
          <a:noFill/>
        </p:spPr>
        <p:txBody>
          <a:bodyPr wrap="square">
            <a:spAutoFit/>
          </a:bodyPr>
          <a:p>
            <a:pPr algn="r"/>
            <a:r>
              <a:rPr b="1" sz="900">
                <a:solidFill>
                  <a:srgbClr val="77859C"/>
                </a:solidFill>
                <a:latin typeface="Aptos"/>
              </a:rPr>
              <a:t>05</a:t>
            </a:r>
          </a:p>
        </p:txBody>
      </p:sp>
      <p:sp>
        <p:nvSpPr>
          <p:cNvPr id="1048730" name="TextBox 5"/>
          <p:cNvSpPr txBox="1"/>
          <p:nvPr/>
        </p:nvSpPr>
        <p:spPr>
          <a:xfrm>
            <a:off x="640080" y="347472"/>
            <a:ext cx="6400800" cy="228600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900">
                <a:solidFill>
                  <a:srgbClr val="25AEB0"/>
                </a:solidFill>
                <a:latin typeface="Aptos"/>
              </a:rPr>
              <a:t>04 • AI ENGINE</a:t>
            </a:r>
          </a:p>
        </p:txBody>
      </p:sp>
      <p:sp>
        <p:nvSpPr>
          <p:cNvPr id="1048731" name="TextBox 6"/>
          <p:cNvSpPr txBox="1"/>
          <p:nvPr/>
        </p:nvSpPr>
        <p:spPr>
          <a:xfrm>
            <a:off x="640080" y="658368"/>
            <a:ext cx="10698480" cy="502920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2700">
                <a:solidFill>
                  <a:srgbClr val="1E3052"/>
                </a:solidFill>
                <a:latin typeface="Aptos"/>
              </a:rPr>
              <a:t>The AI is explainable—not a black box.</a:t>
            </a:r>
          </a:p>
        </p:txBody>
      </p:sp>
      <p:sp>
        <p:nvSpPr>
          <p:cNvPr id="1048732" name="TextBox 7"/>
          <p:cNvSpPr txBox="1"/>
          <p:nvPr/>
        </p:nvSpPr>
        <p:spPr>
          <a:xfrm>
            <a:off x="640080" y="1188720"/>
            <a:ext cx="10789920" cy="231140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0" sz="1000">
                <a:solidFill>
                  <a:srgbClr val="77859C"/>
                </a:solidFill>
                <a:latin typeface="Aptos"/>
              </a:rPr>
              <a:t>Each recommendation includes a match score and the reasons behind it.</a:t>
            </a:r>
          </a:p>
        </p:txBody>
      </p:sp>
      <p:sp>
        <p:nvSpPr>
          <p:cNvPr id="1048733" name="Rounded Rectangle 8"/>
          <p:cNvSpPr/>
          <p:nvPr/>
        </p:nvSpPr>
        <p:spPr>
          <a:xfrm>
            <a:off x="640080" y="1691640"/>
            <a:ext cx="3749039" cy="4389120"/>
          </a:xfrm>
          <a:prstGeom prst="roundRect"/>
          <a:solidFill>
            <a:srgbClr val="FFFFFF"/>
          </a:solidFill>
          <a:ln>
            <a:solidFill>
              <a:srgbClr val="E1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34" name="Rectangle 9"/>
          <p:cNvSpPr/>
          <p:nvPr/>
        </p:nvSpPr>
        <p:spPr>
          <a:xfrm>
            <a:off x="640080" y="1691640"/>
            <a:ext cx="50292" cy="4389120"/>
          </a:xfrm>
          <a:prstGeom prst="rect"/>
          <a:solidFill>
            <a:srgbClr val="25A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35" name="TextBox 10"/>
          <p:cNvSpPr txBox="1"/>
          <p:nvPr/>
        </p:nvSpPr>
        <p:spPr>
          <a:xfrm>
            <a:off x="841247" y="1847088"/>
            <a:ext cx="3364991" cy="292608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1300">
                <a:solidFill>
                  <a:srgbClr val="1E3052"/>
                </a:solidFill>
                <a:latin typeface="Aptos"/>
              </a:rPr>
              <a:t>RECOMMENDATION ENGINE</a:t>
            </a:r>
          </a:p>
        </p:txBody>
      </p:sp>
      <p:sp>
        <p:nvSpPr>
          <p:cNvPr id="1048736" name="TextBox 11"/>
          <p:cNvSpPr txBox="1"/>
          <p:nvPr/>
        </p:nvSpPr>
        <p:spPr>
          <a:xfrm>
            <a:off x="841247" y="2231136"/>
            <a:ext cx="3364991" cy="1348740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0" sz="1000">
                <a:solidFill>
                  <a:srgbClr val="41506A"/>
                </a:solidFill>
                <a:latin typeface="Aptos"/>
              </a:rPr>
              <a:t>Weighted scoring combines:
• Interest match — 30%
• Skill match — 25%
• Career alignment — 25%
• Academic readiness — 20%
Future upgrade: train an ML model using consented, anonymized feedback.</a:t>
            </a:r>
          </a:p>
        </p:txBody>
      </p:sp>
      <p:sp>
        <p:nvSpPr>
          <p:cNvPr id="1048737" name="Rounded Rectangle 12"/>
          <p:cNvSpPr/>
          <p:nvPr/>
        </p:nvSpPr>
        <p:spPr>
          <a:xfrm>
            <a:off x="4709160" y="1691640"/>
            <a:ext cx="6812280" cy="4389120"/>
          </a:xfrm>
          <a:prstGeom prst="roundRect"/>
          <a:solidFill>
            <a:srgbClr val="FFFFFF"/>
          </a:solidFill>
          <a:ln>
            <a:solidFill>
              <a:srgbClr val="E1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38" name="TextBox 13"/>
          <p:cNvSpPr txBox="1"/>
          <p:nvPr/>
        </p:nvSpPr>
        <p:spPr>
          <a:xfrm>
            <a:off x="5029200" y="1965960"/>
            <a:ext cx="5943600" cy="231141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1000">
                <a:solidFill>
                  <a:srgbClr val="8B6FD2"/>
                </a:solidFill>
                <a:latin typeface="Aptos"/>
              </a:rPr>
              <a:t>EXPLAINABLE AI OUTPUT</a:t>
            </a:r>
          </a:p>
        </p:txBody>
      </p:sp>
      <p:sp>
        <p:nvSpPr>
          <p:cNvPr id="1048739" name="TextBox 14"/>
          <p:cNvSpPr txBox="1"/>
          <p:nvPr/>
        </p:nvSpPr>
        <p:spPr>
          <a:xfrm>
            <a:off x="5029200" y="2423160"/>
            <a:ext cx="4754880" cy="365760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1800">
                <a:solidFill>
                  <a:srgbClr val="1E3052"/>
                </a:solidFill>
                <a:latin typeface="Aptos"/>
              </a:rPr>
              <a:t>Machine Learning  •  92% match</a:t>
            </a:r>
          </a:p>
        </p:txBody>
      </p:sp>
      <p:sp>
        <p:nvSpPr>
          <p:cNvPr id="1048740" name="Oval 15"/>
          <p:cNvSpPr/>
          <p:nvPr/>
        </p:nvSpPr>
        <p:spPr>
          <a:xfrm>
            <a:off x="9829800" y="2240280"/>
            <a:ext cx="1097280" cy="1097280"/>
          </a:xfrm>
          <a:prstGeom prst="ellipse"/>
          <a:solidFill>
            <a:srgbClr val="E9F7F0"/>
          </a:solidFill>
          <a:ln w="38100">
            <a:solidFill>
              <a:srgbClr val="41A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41" name="TextBox 16"/>
          <p:cNvSpPr txBox="1"/>
          <p:nvPr/>
        </p:nvSpPr>
        <p:spPr>
          <a:xfrm>
            <a:off x="9921240" y="2587752"/>
            <a:ext cx="914400" cy="320039"/>
          </a:xfrm>
          <a:prstGeom prst="rect"/>
          <a:noFill/>
        </p:spPr>
        <p:txBody>
          <a:bodyPr wrap="square">
            <a:spAutoFit/>
          </a:bodyPr>
          <a:p>
            <a:pPr algn="ctr"/>
            <a:r>
              <a:rPr b="1" sz="1500">
                <a:solidFill>
                  <a:srgbClr val="41A67D"/>
                </a:solidFill>
                <a:latin typeface="Aptos"/>
              </a:rPr>
              <a:t>92%</a:t>
            </a:r>
          </a:p>
        </p:txBody>
      </p:sp>
      <p:sp>
        <p:nvSpPr>
          <p:cNvPr id="1048742" name="TextBox 17"/>
          <p:cNvSpPr txBox="1"/>
          <p:nvPr/>
        </p:nvSpPr>
        <p:spPr>
          <a:xfrm>
            <a:off x="5029200" y="3154680"/>
            <a:ext cx="5852160" cy="218440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900">
                <a:solidFill>
                  <a:srgbClr val="77859C"/>
                </a:solidFill>
                <a:latin typeface="Aptos"/>
              </a:rPr>
              <a:t>WHY IT MATCHES</a:t>
            </a:r>
          </a:p>
        </p:txBody>
      </p:sp>
      <p:sp>
        <p:nvSpPr>
          <p:cNvPr id="1048743" name="Rounded Rectangle 18"/>
          <p:cNvSpPr/>
          <p:nvPr/>
        </p:nvSpPr>
        <p:spPr>
          <a:xfrm>
            <a:off x="5029200" y="3566160"/>
            <a:ext cx="5715000" cy="329184"/>
          </a:xfrm>
          <a:prstGeom prst="roundRect"/>
          <a:solidFill>
            <a:srgbClr val="E5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44" name="TextBox 19"/>
          <p:cNvSpPr txBox="1"/>
          <p:nvPr/>
        </p:nvSpPr>
        <p:spPr>
          <a:xfrm>
            <a:off x="5230368" y="3602736"/>
            <a:ext cx="1828800" cy="210312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900">
                <a:solidFill>
                  <a:srgbClr val="1E3052"/>
                </a:solidFill>
                <a:latin typeface="Aptos"/>
              </a:rPr>
              <a:t>AI interest</a:t>
            </a:r>
          </a:p>
        </p:txBody>
      </p:sp>
      <p:sp>
        <p:nvSpPr>
          <p:cNvPr id="1048745" name="TextBox 20"/>
          <p:cNvSpPr txBox="1"/>
          <p:nvPr/>
        </p:nvSpPr>
        <p:spPr>
          <a:xfrm>
            <a:off x="9006840" y="3602736"/>
            <a:ext cx="1417320" cy="210312"/>
          </a:xfrm>
          <a:prstGeom prst="rect"/>
          <a:noFill/>
        </p:spPr>
        <p:txBody>
          <a:bodyPr wrap="square">
            <a:spAutoFit/>
          </a:bodyPr>
          <a:p>
            <a:pPr algn="r"/>
            <a:r>
              <a:rPr b="1" sz="900">
                <a:solidFill>
                  <a:srgbClr val="25AEB0"/>
                </a:solidFill>
                <a:latin typeface="Aptos"/>
              </a:rPr>
              <a:t>High</a:t>
            </a:r>
          </a:p>
        </p:txBody>
      </p:sp>
      <p:sp>
        <p:nvSpPr>
          <p:cNvPr id="1048746" name="Rounded Rectangle 21"/>
          <p:cNvSpPr/>
          <p:nvPr/>
        </p:nvSpPr>
        <p:spPr>
          <a:xfrm>
            <a:off x="5029200" y="4023360"/>
            <a:ext cx="5715000" cy="329184"/>
          </a:xfrm>
          <a:prstGeom prst="roundRect"/>
          <a:solidFill>
            <a:srgbClr val="EA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47" name="TextBox 22"/>
          <p:cNvSpPr txBox="1"/>
          <p:nvPr/>
        </p:nvSpPr>
        <p:spPr>
          <a:xfrm>
            <a:off x="5230368" y="4059936"/>
            <a:ext cx="1828800" cy="210312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900">
                <a:solidFill>
                  <a:srgbClr val="1E3052"/>
                </a:solidFill>
                <a:latin typeface="Aptos"/>
              </a:rPr>
              <a:t>Python skill</a:t>
            </a:r>
          </a:p>
        </p:txBody>
      </p:sp>
      <p:sp>
        <p:nvSpPr>
          <p:cNvPr id="1048748" name="TextBox 23"/>
          <p:cNvSpPr txBox="1"/>
          <p:nvPr/>
        </p:nvSpPr>
        <p:spPr>
          <a:xfrm>
            <a:off x="9006840" y="4059936"/>
            <a:ext cx="1417320" cy="210312"/>
          </a:xfrm>
          <a:prstGeom prst="rect"/>
          <a:noFill/>
        </p:spPr>
        <p:txBody>
          <a:bodyPr wrap="square">
            <a:spAutoFit/>
          </a:bodyPr>
          <a:p>
            <a:pPr algn="r"/>
            <a:r>
              <a:rPr b="1" sz="900">
                <a:solidFill>
                  <a:srgbClr val="4B82DC"/>
                </a:solidFill>
                <a:latin typeface="Aptos"/>
              </a:rPr>
              <a:t>Strong</a:t>
            </a:r>
          </a:p>
        </p:txBody>
      </p:sp>
      <p:sp>
        <p:nvSpPr>
          <p:cNvPr id="1048749" name="Rounded Rectangle 24"/>
          <p:cNvSpPr/>
          <p:nvPr/>
        </p:nvSpPr>
        <p:spPr>
          <a:xfrm>
            <a:off x="5029200" y="4480560"/>
            <a:ext cx="5715000" cy="329184"/>
          </a:xfrm>
          <a:prstGeom prst="roundRect"/>
          <a:solidFill>
            <a:srgbClr val="E9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50" name="TextBox 25"/>
          <p:cNvSpPr txBox="1"/>
          <p:nvPr/>
        </p:nvSpPr>
        <p:spPr>
          <a:xfrm>
            <a:off x="5230368" y="4517136"/>
            <a:ext cx="1828800" cy="210312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900">
                <a:solidFill>
                  <a:srgbClr val="1E3052"/>
                </a:solidFill>
                <a:latin typeface="Aptos"/>
              </a:rPr>
              <a:t>Career goal</a:t>
            </a:r>
          </a:p>
        </p:txBody>
      </p:sp>
      <p:sp>
        <p:nvSpPr>
          <p:cNvPr id="1048751" name="TextBox 26"/>
          <p:cNvSpPr txBox="1"/>
          <p:nvPr/>
        </p:nvSpPr>
        <p:spPr>
          <a:xfrm>
            <a:off x="9006840" y="4517136"/>
            <a:ext cx="1417320" cy="210312"/>
          </a:xfrm>
          <a:prstGeom prst="rect"/>
          <a:noFill/>
        </p:spPr>
        <p:txBody>
          <a:bodyPr wrap="square">
            <a:spAutoFit/>
          </a:bodyPr>
          <a:p>
            <a:pPr algn="r"/>
            <a:r>
              <a:rPr b="1" sz="900">
                <a:solidFill>
                  <a:srgbClr val="41A67D"/>
                </a:solidFill>
                <a:latin typeface="Aptos"/>
              </a:rPr>
              <a:t>Aligned</a:t>
            </a:r>
          </a:p>
        </p:txBody>
      </p:sp>
      <p:sp>
        <p:nvSpPr>
          <p:cNvPr id="1048752" name="Rounded Rectangle 27"/>
          <p:cNvSpPr/>
          <p:nvPr/>
        </p:nvSpPr>
        <p:spPr>
          <a:xfrm>
            <a:off x="5029200" y="4937760"/>
            <a:ext cx="5715000" cy="329184"/>
          </a:xfrm>
          <a:prstGeom prst="roundRect"/>
          <a:solidFill>
            <a:srgbClr val="FCF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53" name="TextBox 28"/>
          <p:cNvSpPr txBox="1"/>
          <p:nvPr/>
        </p:nvSpPr>
        <p:spPr>
          <a:xfrm>
            <a:off x="5230368" y="4974336"/>
            <a:ext cx="1828800" cy="210312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900">
                <a:solidFill>
                  <a:srgbClr val="1E3052"/>
                </a:solidFill>
                <a:latin typeface="Aptos"/>
              </a:rPr>
              <a:t>Readiness</a:t>
            </a:r>
          </a:p>
        </p:txBody>
      </p:sp>
      <p:sp>
        <p:nvSpPr>
          <p:cNvPr id="1048754" name="TextBox 29"/>
          <p:cNvSpPr txBox="1"/>
          <p:nvPr/>
        </p:nvSpPr>
        <p:spPr>
          <a:xfrm>
            <a:off x="9006840" y="4974336"/>
            <a:ext cx="1417320" cy="210312"/>
          </a:xfrm>
          <a:prstGeom prst="rect"/>
          <a:noFill/>
        </p:spPr>
        <p:txBody>
          <a:bodyPr wrap="square">
            <a:spAutoFit/>
          </a:bodyPr>
          <a:p>
            <a:pPr algn="r"/>
            <a:r>
              <a:rPr b="1" sz="900">
                <a:solidFill>
                  <a:srgbClr val="E2A746"/>
                </a:solidFill>
                <a:latin typeface="Aptos"/>
              </a:rPr>
              <a:t>Good</a:t>
            </a:r>
          </a:p>
        </p:txBody>
      </p:sp>
      <p:sp>
        <p:nvSpPr>
          <p:cNvPr id="1048755" name="Rounded Rectangle 30"/>
          <p:cNvSpPr/>
          <p:nvPr/>
        </p:nvSpPr>
        <p:spPr>
          <a:xfrm>
            <a:off x="5029200" y="5596128"/>
            <a:ext cx="1828800" cy="310896"/>
          </a:xfrm>
          <a:prstGeom prst="roundRect"/>
          <a:solidFill>
            <a:srgbClr val="F2ED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56" name="TextBox 31"/>
          <p:cNvSpPr txBox="1"/>
          <p:nvPr/>
        </p:nvSpPr>
        <p:spPr>
          <a:xfrm>
            <a:off x="5029200" y="5614416"/>
            <a:ext cx="1828800" cy="219456"/>
          </a:xfrm>
          <a:prstGeom prst="rect"/>
          <a:noFill/>
        </p:spPr>
        <p:txBody>
          <a:bodyPr wrap="square">
            <a:spAutoFit/>
          </a:bodyPr>
          <a:p>
            <a:pPr algn="ctr"/>
            <a:r>
              <a:rPr b="1" sz="800">
                <a:solidFill>
                  <a:srgbClr val="1E3052"/>
                </a:solidFill>
                <a:latin typeface="Aptos"/>
              </a:rPr>
              <a:t>NEXT: ML + LLM</a:t>
            </a:r>
          </a:p>
        </p:txBody>
      </p:sp>
      <p:sp>
        <p:nvSpPr>
          <p:cNvPr id="1048757" name="TextBox 32"/>
          <p:cNvSpPr txBox="1"/>
          <p:nvPr/>
        </p:nvSpPr>
        <p:spPr>
          <a:xfrm>
            <a:off x="7040880" y="5623560"/>
            <a:ext cx="3657600" cy="219456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0" sz="900">
                <a:solidFill>
                  <a:srgbClr val="77859C"/>
                </a:solidFill>
                <a:latin typeface="Aptos"/>
              </a:rPr>
              <a:t>with privacy-aware student feedback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30" name=""/>
        <p:cNvGrpSpPr/>
        <p:nvPr/>
      </p:nvGrpSpPr>
      <p:grpSpPr>
        <a:xfrm/>
      </p:grpSpPr>
      <p:sp>
        <p:nvSpPr>
          <p:cNvPr id="1048758" name="Rectangle 1"/>
          <p:cNvSpPr/>
          <p:nvPr/>
        </p:nvSpPr>
        <p:spPr>
          <a:xfrm>
            <a:off x="640080" y="182880"/>
            <a:ext cx="1234440" cy="41148"/>
          </a:xfrm>
          <a:prstGeom prst="rect"/>
          <a:solidFill>
            <a:srgbClr val="25A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59" name="Rectangle 2"/>
          <p:cNvSpPr/>
          <p:nvPr/>
        </p:nvSpPr>
        <p:spPr>
          <a:xfrm>
            <a:off x="1901952" y="182880"/>
            <a:ext cx="731520" cy="41148"/>
          </a:xfrm>
          <a:prstGeom prst="rect"/>
          <a:solidFill>
            <a:srgbClr val="8B6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60" name="TextBox 3"/>
          <p:cNvSpPr txBox="1"/>
          <p:nvPr/>
        </p:nvSpPr>
        <p:spPr>
          <a:xfrm>
            <a:off x="640080" y="6565392"/>
            <a:ext cx="4572000" cy="193040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700">
                <a:solidFill>
                  <a:srgbClr val="77859C"/>
                </a:solidFill>
                <a:latin typeface="Aptos"/>
              </a:rPr>
              <a:t>EDUSELECT AI  •  HACKATHON 2026</a:t>
            </a:r>
          </a:p>
        </p:txBody>
      </p:sp>
      <p:sp>
        <p:nvSpPr>
          <p:cNvPr id="1048761" name="TextBox 4"/>
          <p:cNvSpPr txBox="1"/>
          <p:nvPr/>
        </p:nvSpPr>
        <p:spPr>
          <a:xfrm>
            <a:off x="11064240" y="384048"/>
            <a:ext cx="457200" cy="201168"/>
          </a:xfrm>
          <a:prstGeom prst="rect"/>
          <a:noFill/>
        </p:spPr>
        <p:txBody>
          <a:bodyPr wrap="square">
            <a:spAutoFit/>
          </a:bodyPr>
          <a:p>
            <a:pPr algn="r"/>
            <a:r>
              <a:rPr b="1" sz="900">
                <a:solidFill>
                  <a:srgbClr val="77859C"/>
                </a:solidFill>
                <a:latin typeface="Aptos"/>
              </a:rPr>
              <a:t>06</a:t>
            </a:r>
          </a:p>
        </p:txBody>
      </p:sp>
      <p:sp>
        <p:nvSpPr>
          <p:cNvPr id="1048762" name="TextBox 5"/>
          <p:cNvSpPr txBox="1"/>
          <p:nvPr/>
        </p:nvSpPr>
        <p:spPr>
          <a:xfrm>
            <a:off x="640080" y="347472"/>
            <a:ext cx="6400800" cy="228600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900">
                <a:solidFill>
                  <a:srgbClr val="25AEB0"/>
                </a:solidFill>
                <a:latin typeface="Aptos"/>
              </a:rPr>
              <a:t>05 • DEMO &amp; IMPACT</a:t>
            </a:r>
          </a:p>
        </p:txBody>
      </p:sp>
      <p:sp>
        <p:nvSpPr>
          <p:cNvPr id="1048763" name="TextBox 6"/>
          <p:cNvSpPr txBox="1"/>
          <p:nvPr/>
        </p:nvSpPr>
        <p:spPr>
          <a:xfrm>
            <a:off x="640080" y="658368"/>
            <a:ext cx="10698480" cy="502920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2700">
                <a:solidFill>
                  <a:srgbClr val="1E3052"/>
                </a:solidFill>
                <a:latin typeface="Aptos"/>
              </a:rPr>
              <a:t>Clarity for students. Insights for professors.</a:t>
            </a:r>
          </a:p>
        </p:txBody>
      </p:sp>
      <p:sp>
        <p:nvSpPr>
          <p:cNvPr id="1048764" name="TextBox 7"/>
          <p:cNvSpPr txBox="1"/>
          <p:nvPr/>
        </p:nvSpPr>
        <p:spPr>
          <a:xfrm>
            <a:off x="640080" y="1188720"/>
            <a:ext cx="10789920" cy="231140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0" sz="1000">
                <a:solidFill>
                  <a:srgbClr val="77859C"/>
                </a:solidFill>
                <a:latin typeface="Aptos"/>
              </a:rPr>
              <a:t>One platform supports individual academic choices and broader counselling conversations.</a:t>
            </a:r>
          </a:p>
        </p:txBody>
      </p:sp>
      <p:sp>
        <p:nvSpPr>
          <p:cNvPr id="1048765" name="Rounded Rectangle 8"/>
          <p:cNvSpPr/>
          <p:nvPr/>
        </p:nvSpPr>
        <p:spPr>
          <a:xfrm>
            <a:off x="640080" y="1600200"/>
            <a:ext cx="3657600" cy="4526280"/>
          </a:xfrm>
          <a:prstGeom prst="roundRect"/>
          <a:solidFill>
            <a:srgbClr val="FFFFFF"/>
          </a:solidFill>
          <a:ln>
            <a:solidFill>
              <a:srgbClr val="E1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66" name="TextBox 9"/>
          <p:cNvSpPr txBox="1"/>
          <p:nvPr/>
        </p:nvSpPr>
        <p:spPr>
          <a:xfrm>
            <a:off x="914400" y="1828800"/>
            <a:ext cx="2926080" cy="228600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900">
                <a:solidFill>
                  <a:srgbClr val="25AEB0"/>
                </a:solidFill>
                <a:latin typeface="Aptos"/>
              </a:rPr>
              <a:t>STUDENT VIEW</a:t>
            </a:r>
          </a:p>
        </p:txBody>
      </p:sp>
      <p:sp>
        <p:nvSpPr>
          <p:cNvPr id="1048767" name="TextBox 10"/>
          <p:cNvSpPr txBox="1"/>
          <p:nvPr/>
        </p:nvSpPr>
        <p:spPr>
          <a:xfrm>
            <a:off x="914400" y="2212848"/>
            <a:ext cx="2834640" cy="345440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1700">
                <a:solidFill>
                  <a:srgbClr val="1E3052"/>
                </a:solidFill>
                <a:latin typeface="Aptos"/>
              </a:rPr>
              <a:t>Your top matches</a:t>
            </a:r>
          </a:p>
        </p:txBody>
      </p:sp>
      <p:sp>
        <p:nvSpPr>
          <p:cNvPr id="1048768" name="TextBox 11"/>
          <p:cNvSpPr txBox="1"/>
          <p:nvPr/>
        </p:nvSpPr>
        <p:spPr>
          <a:xfrm>
            <a:off x="914400" y="2788920"/>
            <a:ext cx="2148840" cy="228600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1000">
                <a:solidFill>
                  <a:srgbClr val="1E3052"/>
                </a:solidFill>
                <a:latin typeface="Aptos"/>
              </a:rPr>
              <a:t>Machine Learning</a:t>
            </a:r>
          </a:p>
        </p:txBody>
      </p:sp>
      <p:sp>
        <p:nvSpPr>
          <p:cNvPr id="1048769" name="Rounded Rectangle 12"/>
          <p:cNvSpPr/>
          <p:nvPr/>
        </p:nvSpPr>
        <p:spPr>
          <a:xfrm>
            <a:off x="914400" y="3154679"/>
            <a:ext cx="2331720" cy="109728"/>
          </a:xfrm>
          <a:prstGeom prst="roundRect"/>
          <a:solidFill>
            <a:srgbClr val="E1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70" name="Rounded Rectangle 13"/>
          <p:cNvSpPr/>
          <p:nvPr/>
        </p:nvSpPr>
        <p:spPr>
          <a:xfrm>
            <a:off x="914400" y="3154679"/>
            <a:ext cx="2145182" cy="109728"/>
          </a:xfrm>
          <a:prstGeom prst="roundRect"/>
          <a:solidFill>
            <a:srgbClr val="41A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71" name="TextBox 14"/>
          <p:cNvSpPr txBox="1"/>
          <p:nvPr/>
        </p:nvSpPr>
        <p:spPr>
          <a:xfrm>
            <a:off x="3401568" y="2944368"/>
            <a:ext cx="502920" cy="228600"/>
          </a:xfrm>
          <a:prstGeom prst="rect"/>
          <a:noFill/>
        </p:spPr>
        <p:txBody>
          <a:bodyPr wrap="square">
            <a:spAutoFit/>
          </a:bodyPr>
          <a:p>
            <a:pPr algn="r"/>
            <a:r>
              <a:rPr b="1" sz="1000">
                <a:solidFill>
                  <a:srgbClr val="41A67D"/>
                </a:solidFill>
                <a:latin typeface="Aptos"/>
              </a:rPr>
              <a:t>92%</a:t>
            </a:r>
          </a:p>
        </p:txBody>
      </p:sp>
      <p:sp>
        <p:nvSpPr>
          <p:cNvPr id="1048772" name="TextBox 15"/>
          <p:cNvSpPr txBox="1"/>
          <p:nvPr/>
        </p:nvSpPr>
        <p:spPr>
          <a:xfrm>
            <a:off x="914400" y="3566160"/>
            <a:ext cx="2148840" cy="228600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1000">
                <a:solidFill>
                  <a:srgbClr val="1E3052"/>
                </a:solidFill>
                <a:latin typeface="Aptos"/>
              </a:rPr>
              <a:t>Data Science</a:t>
            </a:r>
          </a:p>
        </p:txBody>
      </p:sp>
      <p:sp>
        <p:nvSpPr>
          <p:cNvPr id="1048773" name="Rounded Rectangle 16"/>
          <p:cNvSpPr/>
          <p:nvPr/>
        </p:nvSpPr>
        <p:spPr>
          <a:xfrm>
            <a:off x="914400" y="3931920"/>
            <a:ext cx="2331720" cy="109728"/>
          </a:xfrm>
          <a:prstGeom prst="roundRect"/>
          <a:solidFill>
            <a:srgbClr val="E1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74" name="Rounded Rectangle 17"/>
          <p:cNvSpPr/>
          <p:nvPr/>
        </p:nvSpPr>
        <p:spPr>
          <a:xfrm>
            <a:off x="914400" y="3931920"/>
            <a:ext cx="2028596" cy="109728"/>
          </a:xfrm>
          <a:prstGeom prst="roundRect"/>
          <a:solidFill>
            <a:srgbClr val="4B8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75" name="TextBox 18"/>
          <p:cNvSpPr txBox="1"/>
          <p:nvPr/>
        </p:nvSpPr>
        <p:spPr>
          <a:xfrm>
            <a:off x="3401568" y="3721608"/>
            <a:ext cx="502920" cy="228600"/>
          </a:xfrm>
          <a:prstGeom prst="rect"/>
          <a:noFill/>
        </p:spPr>
        <p:txBody>
          <a:bodyPr wrap="square">
            <a:spAutoFit/>
          </a:bodyPr>
          <a:p>
            <a:pPr algn="r"/>
            <a:r>
              <a:rPr b="1" sz="1000">
                <a:solidFill>
                  <a:srgbClr val="4B82DC"/>
                </a:solidFill>
                <a:latin typeface="Aptos"/>
              </a:rPr>
              <a:t>87%</a:t>
            </a:r>
          </a:p>
        </p:txBody>
      </p:sp>
      <p:sp>
        <p:nvSpPr>
          <p:cNvPr id="1048776" name="TextBox 19"/>
          <p:cNvSpPr txBox="1"/>
          <p:nvPr/>
        </p:nvSpPr>
        <p:spPr>
          <a:xfrm>
            <a:off x="914400" y="4343400"/>
            <a:ext cx="2148840" cy="228600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1000">
                <a:solidFill>
                  <a:srgbClr val="1E3052"/>
                </a:solidFill>
                <a:latin typeface="Aptos"/>
              </a:rPr>
              <a:t>Cloud Computing</a:t>
            </a:r>
          </a:p>
        </p:txBody>
      </p:sp>
      <p:sp>
        <p:nvSpPr>
          <p:cNvPr id="1048777" name="Rounded Rectangle 20"/>
          <p:cNvSpPr/>
          <p:nvPr/>
        </p:nvSpPr>
        <p:spPr>
          <a:xfrm>
            <a:off x="914400" y="4709160"/>
            <a:ext cx="2331720" cy="109728"/>
          </a:xfrm>
          <a:prstGeom prst="roundRect"/>
          <a:solidFill>
            <a:srgbClr val="E1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78" name="Rounded Rectangle 21"/>
          <p:cNvSpPr/>
          <p:nvPr/>
        </p:nvSpPr>
        <p:spPr>
          <a:xfrm>
            <a:off x="914400" y="4709160"/>
            <a:ext cx="1725472" cy="109728"/>
          </a:xfrm>
          <a:prstGeom prst="roundRect"/>
          <a:solidFill>
            <a:srgbClr val="8B6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79" name="TextBox 22"/>
          <p:cNvSpPr txBox="1"/>
          <p:nvPr/>
        </p:nvSpPr>
        <p:spPr>
          <a:xfrm>
            <a:off x="3401568" y="4498848"/>
            <a:ext cx="502920" cy="228600"/>
          </a:xfrm>
          <a:prstGeom prst="rect"/>
          <a:noFill/>
        </p:spPr>
        <p:txBody>
          <a:bodyPr wrap="square">
            <a:spAutoFit/>
          </a:bodyPr>
          <a:p>
            <a:pPr algn="r"/>
            <a:r>
              <a:rPr b="1" sz="1000">
                <a:solidFill>
                  <a:srgbClr val="8B6FD2"/>
                </a:solidFill>
                <a:latin typeface="Aptos"/>
              </a:rPr>
              <a:t>74%</a:t>
            </a:r>
          </a:p>
        </p:txBody>
      </p:sp>
      <p:sp>
        <p:nvSpPr>
          <p:cNvPr id="1048780" name="Rounded Rectangle 23"/>
          <p:cNvSpPr/>
          <p:nvPr/>
        </p:nvSpPr>
        <p:spPr>
          <a:xfrm>
            <a:off x="914400" y="5321808"/>
            <a:ext cx="1280160" cy="310896"/>
          </a:xfrm>
          <a:prstGeom prst="roundRect"/>
          <a:solidFill>
            <a:srgbClr val="EA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81" name="TextBox 24"/>
          <p:cNvSpPr txBox="1"/>
          <p:nvPr/>
        </p:nvSpPr>
        <p:spPr>
          <a:xfrm>
            <a:off x="914400" y="5340096"/>
            <a:ext cx="1280160" cy="219456"/>
          </a:xfrm>
          <a:prstGeom prst="rect"/>
          <a:noFill/>
        </p:spPr>
        <p:txBody>
          <a:bodyPr wrap="square">
            <a:spAutoFit/>
          </a:bodyPr>
          <a:p>
            <a:pPr algn="ctr"/>
            <a:r>
              <a:rPr b="1" sz="800">
                <a:solidFill>
                  <a:srgbClr val="1E3052"/>
                </a:solidFill>
                <a:latin typeface="Aptos"/>
              </a:rPr>
              <a:t>COMPARE</a:t>
            </a:r>
          </a:p>
        </p:txBody>
      </p:sp>
      <p:sp>
        <p:nvSpPr>
          <p:cNvPr id="1048782" name="Rounded Rectangle 25"/>
          <p:cNvSpPr/>
          <p:nvPr/>
        </p:nvSpPr>
        <p:spPr>
          <a:xfrm>
            <a:off x="2359152" y="5321808"/>
            <a:ext cx="1143000" cy="310896"/>
          </a:xfrm>
          <a:prstGeom prst="roundRect"/>
          <a:solidFill>
            <a:srgbClr val="F2ED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83" name="TextBox 26"/>
          <p:cNvSpPr txBox="1"/>
          <p:nvPr/>
        </p:nvSpPr>
        <p:spPr>
          <a:xfrm>
            <a:off x="2359152" y="5340096"/>
            <a:ext cx="1143000" cy="219456"/>
          </a:xfrm>
          <a:prstGeom prst="rect"/>
          <a:noFill/>
        </p:spPr>
        <p:txBody>
          <a:bodyPr wrap="square">
            <a:spAutoFit/>
          </a:bodyPr>
          <a:p>
            <a:pPr algn="ctr"/>
            <a:r>
              <a:rPr b="1" sz="800">
                <a:solidFill>
                  <a:srgbClr val="1E3052"/>
                </a:solidFill>
                <a:latin typeface="Aptos"/>
              </a:rPr>
              <a:t>WHY?</a:t>
            </a:r>
          </a:p>
        </p:txBody>
      </p:sp>
      <p:sp>
        <p:nvSpPr>
          <p:cNvPr id="1048784" name="Rounded Rectangle 27"/>
          <p:cNvSpPr/>
          <p:nvPr/>
        </p:nvSpPr>
        <p:spPr>
          <a:xfrm>
            <a:off x="4572000" y="1600200"/>
            <a:ext cx="6949440" cy="4526280"/>
          </a:xfrm>
          <a:prstGeom prst="roundRect"/>
          <a:solidFill>
            <a:srgbClr val="FFFFFF"/>
          </a:solidFill>
          <a:ln>
            <a:solidFill>
              <a:srgbClr val="E1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85" name="TextBox 28"/>
          <p:cNvSpPr txBox="1"/>
          <p:nvPr/>
        </p:nvSpPr>
        <p:spPr>
          <a:xfrm>
            <a:off x="4892040" y="1828800"/>
            <a:ext cx="4114800" cy="228600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900">
                <a:solidFill>
                  <a:srgbClr val="8B6FD2"/>
                </a:solidFill>
                <a:latin typeface="Aptos"/>
              </a:rPr>
              <a:t>PROFESSOR / COUNSELLOR VIEW</a:t>
            </a:r>
          </a:p>
        </p:txBody>
      </p:sp>
      <p:sp>
        <p:nvSpPr>
          <p:cNvPr id="1048786" name="TextBox 29"/>
          <p:cNvSpPr txBox="1"/>
          <p:nvPr/>
        </p:nvSpPr>
        <p:spPr>
          <a:xfrm>
            <a:off x="4892040" y="2212848"/>
            <a:ext cx="4389120" cy="345440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1700">
                <a:solidFill>
                  <a:srgbClr val="1E3052"/>
                </a:solidFill>
                <a:latin typeface="Aptos"/>
              </a:rPr>
              <a:t>Cohort insight dashboard</a:t>
            </a:r>
          </a:p>
        </p:txBody>
      </p:sp>
      <p:sp>
        <p:nvSpPr>
          <p:cNvPr id="1048787" name="TextBox 30"/>
          <p:cNvSpPr txBox="1"/>
          <p:nvPr/>
        </p:nvSpPr>
        <p:spPr>
          <a:xfrm>
            <a:off x="4892040" y="2907792"/>
            <a:ext cx="1417320" cy="228600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900">
                <a:solidFill>
                  <a:srgbClr val="41506A"/>
                </a:solidFill>
                <a:latin typeface="Aptos"/>
              </a:rPr>
              <a:t>AI / ML</a:t>
            </a:r>
          </a:p>
        </p:txBody>
      </p:sp>
      <p:sp>
        <p:nvSpPr>
          <p:cNvPr id="1048788" name="Rounded Rectangle 31"/>
          <p:cNvSpPr/>
          <p:nvPr/>
        </p:nvSpPr>
        <p:spPr>
          <a:xfrm>
            <a:off x="6355080" y="2944368"/>
            <a:ext cx="3977639" cy="164592"/>
          </a:xfrm>
          <a:prstGeom prst="roundRect"/>
          <a:solidFill>
            <a:srgbClr val="E1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89" name="Rounded Rectangle 32"/>
          <p:cNvSpPr/>
          <p:nvPr/>
        </p:nvSpPr>
        <p:spPr>
          <a:xfrm>
            <a:off x="6355080" y="2944368"/>
            <a:ext cx="3102559" cy="164592"/>
          </a:xfrm>
          <a:prstGeom prst="roundRect"/>
          <a:solidFill>
            <a:srgbClr val="25A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90" name="TextBox 33"/>
          <p:cNvSpPr txBox="1"/>
          <p:nvPr/>
        </p:nvSpPr>
        <p:spPr>
          <a:xfrm>
            <a:off x="10469880" y="2880360"/>
            <a:ext cx="502920" cy="228600"/>
          </a:xfrm>
          <a:prstGeom prst="rect"/>
          <a:noFill/>
        </p:spPr>
        <p:txBody>
          <a:bodyPr wrap="square">
            <a:spAutoFit/>
          </a:bodyPr>
          <a:p>
            <a:pPr algn="r"/>
            <a:r>
              <a:rPr b="1" sz="900">
                <a:solidFill>
                  <a:srgbClr val="25AEB0"/>
                </a:solidFill>
                <a:latin typeface="Aptos"/>
              </a:rPr>
              <a:t>78%</a:t>
            </a:r>
          </a:p>
        </p:txBody>
      </p:sp>
      <p:sp>
        <p:nvSpPr>
          <p:cNvPr id="1048791" name="TextBox 34"/>
          <p:cNvSpPr txBox="1"/>
          <p:nvPr/>
        </p:nvSpPr>
        <p:spPr>
          <a:xfrm>
            <a:off x="4892040" y="3474720"/>
            <a:ext cx="1417320" cy="228600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900">
                <a:solidFill>
                  <a:srgbClr val="41506A"/>
                </a:solidFill>
                <a:latin typeface="Aptos"/>
              </a:rPr>
              <a:t>Data Science</a:t>
            </a:r>
          </a:p>
        </p:txBody>
      </p:sp>
      <p:sp>
        <p:nvSpPr>
          <p:cNvPr id="1048792" name="Rounded Rectangle 35"/>
          <p:cNvSpPr/>
          <p:nvPr/>
        </p:nvSpPr>
        <p:spPr>
          <a:xfrm>
            <a:off x="6355080" y="3511296"/>
            <a:ext cx="3977639" cy="164592"/>
          </a:xfrm>
          <a:prstGeom prst="roundRect"/>
          <a:solidFill>
            <a:srgbClr val="E1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93" name="Rounded Rectangle 36"/>
          <p:cNvSpPr/>
          <p:nvPr/>
        </p:nvSpPr>
        <p:spPr>
          <a:xfrm>
            <a:off x="6355080" y="3511296"/>
            <a:ext cx="2545689" cy="164592"/>
          </a:xfrm>
          <a:prstGeom prst="roundRect"/>
          <a:solidFill>
            <a:srgbClr val="4B8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94" name="TextBox 37"/>
          <p:cNvSpPr txBox="1"/>
          <p:nvPr/>
        </p:nvSpPr>
        <p:spPr>
          <a:xfrm>
            <a:off x="10469880" y="3447288"/>
            <a:ext cx="502920" cy="228600"/>
          </a:xfrm>
          <a:prstGeom prst="rect"/>
          <a:noFill/>
        </p:spPr>
        <p:txBody>
          <a:bodyPr wrap="square">
            <a:spAutoFit/>
          </a:bodyPr>
          <a:p>
            <a:pPr algn="r"/>
            <a:r>
              <a:rPr b="1" sz="900">
                <a:solidFill>
                  <a:srgbClr val="4B82DC"/>
                </a:solidFill>
                <a:latin typeface="Aptos"/>
              </a:rPr>
              <a:t>64%</a:t>
            </a:r>
          </a:p>
        </p:txBody>
      </p:sp>
      <p:sp>
        <p:nvSpPr>
          <p:cNvPr id="1048795" name="TextBox 38"/>
          <p:cNvSpPr txBox="1"/>
          <p:nvPr/>
        </p:nvSpPr>
        <p:spPr>
          <a:xfrm>
            <a:off x="4892040" y="4041648"/>
            <a:ext cx="1417320" cy="228600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900">
                <a:solidFill>
                  <a:srgbClr val="41506A"/>
                </a:solidFill>
                <a:latin typeface="Aptos"/>
              </a:rPr>
              <a:t>Cloud</a:t>
            </a:r>
          </a:p>
        </p:txBody>
      </p:sp>
      <p:sp>
        <p:nvSpPr>
          <p:cNvPr id="1048796" name="Rounded Rectangle 39"/>
          <p:cNvSpPr/>
          <p:nvPr/>
        </p:nvSpPr>
        <p:spPr>
          <a:xfrm>
            <a:off x="6355080" y="4078224"/>
            <a:ext cx="3977639" cy="164592"/>
          </a:xfrm>
          <a:prstGeom prst="roundRect"/>
          <a:solidFill>
            <a:srgbClr val="E1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97" name="Rounded Rectangle 40"/>
          <p:cNvSpPr/>
          <p:nvPr/>
        </p:nvSpPr>
        <p:spPr>
          <a:xfrm>
            <a:off x="6355080" y="4078224"/>
            <a:ext cx="2028596" cy="164592"/>
          </a:xfrm>
          <a:prstGeom prst="roundRect"/>
          <a:solidFill>
            <a:srgbClr val="8B6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98" name="TextBox 41"/>
          <p:cNvSpPr txBox="1"/>
          <p:nvPr/>
        </p:nvSpPr>
        <p:spPr>
          <a:xfrm>
            <a:off x="10469880" y="4014215"/>
            <a:ext cx="502920" cy="228600"/>
          </a:xfrm>
          <a:prstGeom prst="rect"/>
          <a:noFill/>
        </p:spPr>
        <p:txBody>
          <a:bodyPr wrap="square">
            <a:spAutoFit/>
          </a:bodyPr>
          <a:p>
            <a:pPr algn="r"/>
            <a:r>
              <a:rPr b="1" sz="900">
                <a:solidFill>
                  <a:srgbClr val="8B6FD2"/>
                </a:solidFill>
                <a:latin typeface="Aptos"/>
              </a:rPr>
              <a:t>51%</a:t>
            </a:r>
          </a:p>
        </p:txBody>
      </p:sp>
      <p:sp>
        <p:nvSpPr>
          <p:cNvPr id="1048799" name="TextBox 42"/>
          <p:cNvSpPr txBox="1"/>
          <p:nvPr/>
        </p:nvSpPr>
        <p:spPr>
          <a:xfrm>
            <a:off x="4892040" y="4608576"/>
            <a:ext cx="1417320" cy="228600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900">
                <a:solidFill>
                  <a:srgbClr val="41506A"/>
                </a:solidFill>
                <a:latin typeface="Aptos"/>
              </a:rPr>
              <a:t>Cybersecurity</a:t>
            </a:r>
          </a:p>
        </p:txBody>
      </p:sp>
      <p:sp>
        <p:nvSpPr>
          <p:cNvPr id="1048800" name="Rounded Rectangle 43"/>
          <p:cNvSpPr/>
          <p:nvPr/>
        </p:nvSpPr>
        <p:spPr>
          <a:xfrm>
            <a:off x="6355080" y="4645152"/>
            <a:ext cx="3977639" cy="164592"/>
          </a:xfrm>
          <a:prstGeom prst="roundRect"/>
          <a:solidFill>
            <a:srgbClr val="E1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01" name="Rounded Rectangle 44"/>
          <p:cNvSpPr/>
          <p:nvPr/>
        </p:nvSpPr>
        <p:spPr>
          <a:xfrm>
            <a:off x="6355080" y="4645152"/>
            <a:ext cx="1710385" cy="164592"/>
          </a:xfrm>
          <a:prstGeom prst="roundRect"/>
          <a:solidFill>
            <a:srgbClr val="DA6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02" name="TextBox 45"/>
          <p:cNvSpPr txBox="1"/>
          <p:nvPr/>
        </p:nvSpPr>
        <p:spPr>
          <a:xfrm>
            <a:off x="10469880" y="4581144"/>
            <a:ext cx="502920" cy="228600"/>
          </a:xfrm>
          <a:prstGeom prst="rect"/>
          <a:noFill/>
        </p:spPr>
        <p:txBody>
          <a:bodyPr wrap="square">
            <a:spAutoFit/>
          </a:bodyPr>
          <a:p>
            <a:pPr algn="r"/>
            <a:r>
              <a:rPr b="1" sz="900">
                <a:solidFill>
                  <a:srgbClr val="DA6F9D"/>
                </a:solidFill>
                <a:latin typeface="Aptos"/>
              </a:rPr>
              <a:t>43%</a:t>
            </a:r>
          </a:p>
        </p:txBody>
      </p:sp>
      <p:sp>
        <p:nvSpPr>
          <p:cNvPr id="1048803" name="Rounded Rectangle 46"/>
          <p:cNvSpPr/>
          <p:nvPr/>
        </p:nvSpPr>
        <p:spPr>
          <a:xfrm>
            <a:off x="4892040" y="5376672"/>
            <a:ext cx="1554480" cy="310896"/>
          </a:xfrm>
          <a:prstGeom prst="roundRect"/>
          <a:solidFill>
            <a:srgbClr val="E9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04" name="TextBox 47"/>
          <p:cNvSpPr txBox="1"/>
          <p:nvPr/>
        </p:nvSpPr>
        <p:spPr>
          <a:xfrm>
            <a:off x="4892040" y="5394959"/>
            <a:ext cx="1554480" cy="219456"/>
          </a:xfrm>
          <a:prstGeom prst="rect"/>
          <a:noFill/>
        </p:spPr>
        <p:txBody>
          <a:bodyPr wrap="square">
            <a:spAutoFit/>
          </a:bodyPr>
          <a:p>
            <a:pPr algn="ctr"/>
            <a:r>
              <a:rPr b="1" sz="800">
                <a:solidFill>
                  <a:srgbClr val="1E3052"/>
                </a:solidFill>
                <a:latin typeface="Aptos"/>
              </a:rPr>
              <a:t>LESS CONFUSION</a:t>
            </a:r>
          </a:p>
        </p:txBody>
      </p:sp>
      <p:sp>
        <p:nvSpPr>
          <p:cNvPr id="1048805" name="Rounded Rectangle 48"/>
          <p:cNvSpPr/>
          <p:nvPr/>
        </p:nvSpPr>
        <p:spPr>
          <a:xfrm>
            <a:off x="6629400" y="5376672"/>
            <a:ext cx="1600200" cy="310896"/>
          </a:xfrm>
          <a:prstGeom prst="roundRect"/>
          <a:solidFill>
            <a:srgbClr val="E5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06" name="TextBox 49"/>
          <p:cNvSpPr txBox="1"/>
          <p:nvPr/>
        </p:nvSpPr>
        <p:spPr>
          <a:xfrm>
            <a:off x="6629400" y="5394959"/>
            <a:ext cx="1600200" cy="219456"/>
          </a:xfrm>
          <a:prstGeom prst="rect"/>
          <a:noFill/>
        </p:spPr>
        <p:txBody>
          <a:bodyPr wrap="square">
            <a:spAutoFit/>
          </a:bodyPr>
          <a:p>
            <a:pPr algn="ctr"/>
            <a:r>
              <a:rPr b="1" sz="800">
                <a:solidFill>
                  <a:srgbClr val="1E3052"/>
                </a:solidFill>
                <a:latin typeface="Aptos"/>
              </a:rPr>
              <a:t>FASTER GUIDANCE</a:t>
            </a:r>
          </a:p>
        </p:txBody>
      </p:sp>
      <p:sp>
        <p:nvSpPr>
          <p:cNvPr id="1048807" name="Rounded Rectangle 50"/>
          <p:cNvSpPr/>
          <p:nvPr/>
        </p:nvSpPr>
        <p:spPr>
          <a:xfrm>
            <a:off x="8412480" y="5376672"/>
            <a:ext cx="1508760" cy="310896"/>
          </a:xfrm>
          <a:prstGeom prst="roundRect"/>
          <a:solidFill>
            <a:srgbClr val="F2ED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08" name="TextBox 51"/>
          <p:cNvSpPr txBox="1"/>
          <p:nvPr/>
        </p:nvSpPr>
        <p:spPr>
          <a:xfrm>
            <a:off x="8412480" y="5394959"/>
            <a:ext cx="1508760" cy="219456"/>
          </a:xfrm>
          <a:prstGeom prst="rect"/>
          <a:noFill/>
        </p:spPr>
        <p:txBody>
          <a:bodyPr wrap="square">
            <a:spAutoFit/>
          </a:bodyPr>
          <a:p>
            <a:pPr algn="ctr"/>
            <a:r>
              <a:rPr b="1" sz="800">
                <a:solidFill>
                  <a:srgbClr val="1E3052"/>
                </a:solidFill>
                <a:latin typeface="Aptos"/>
              </a:rPr>
              <a:t>DATA INSIGHTS</a:t>
            </a:r>
          </a:p>
        </p:txBody>
      </p:sp>
      <p:sp>
        <p:nvSpPr>
          <p:cNvPr id="1048809" name="TextBox 52"/>
          <p:cNvSpPr txBox="1"/>
          <p:nvPr/>
        </p:nvSpPr>
        <p:spPr>
          <a:xfrm>
            <a:off x="4892040" y="5788152"/>
            <a:ext cx="5943600" cy="228600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0" sz="800">
                <a:solidFill>
                  <a:srgbClr val="77859C"/>
                </a:solidFill>
                <a:latin typeface="Aptos"/>
              </a:rPr>
              <a:t>Illustrative dashboard values for the prototype demo.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31" name=""/>
        <p:cNvGrpSpPr/>
        <p:nvPr/>
      </p:nvGrpSpPr>
      <p:grpSpPr>
        <a:xfrm/>
      </p:grpSpPr>
      <p:sp>
        <p:nvSpPr>
          <p:cNvPr id="1048810" name="Rectangle 1"/>
          <p:cNvSpPr/>
          <p:nvPr/>
        </p:nvSpPr>
        <p:spPr>
          <a:xfrm>
            <a:off x="640080" y="182880"/>
            <a:ext cx="1234440" cy="41148"/>
          </a:xfrm>
          <a:prstGeom prst="rect"/>
          <a:solidFill>
            <a:srgbClr val="25A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11" name="Rectangle 2"/>
          <p:cNvSpPr/>
          <p:nvPr/>
        </p:nvSpPr>
        <p:spPr>
          <a:xfrm>
            <a:off x="1901952" y="182880"/>
            <a:ext cx="731520" cy="41148"/>
          </a:xfrm>
          <a:prstGeom prst="rect"/>
          <a:solidFill>
            <a:srgbClr val="8B6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12" name="TextBox 3"/>
          <p:cNvSpPr txBox="1"/>
          <p:nvPr/>
        </p:nvSpPr>
        <p:spPr>
          <a:xfrm>
            <a:off x="640080" y="6565392"/>
            <a:ext cx="4572000" cy="164592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700">
                <a:solidFill>
                  <a:srgbClr val="77859C"/>
                </a:solidFill>
                <a:latin typeface="Aptos"/>
              </a:rPr>
              <a:t>EDUSELECT AI  •  HACKATHON 2026</a:t>
            </a:r>
          </a:p>
        </p:txBody>
      </p:sp>
      <p:sp>
        <p:nvSpPr>
          <p:cNvPr id="1048813" name="TextBox 4"/>
          <p:cNvSpPr txBox="1"/>
          <p:nvPr/>
        </p:nvSpPr>
        <p:spPr>
          <a:xfrm>
            <a:off x="11064240" y="384048"/>
            <a:ext cx="457200" cy="201168"/>
          </a:xfrm>
          <a:prstGeom prst="rect"/>
          <a:noFill/>
        </p:spPr>
        <p:txBody>
          <a:bodyPr wrap="square">
            <a:spAutoFit/>
          </a:bodyPr>
          <a:p>
            <a:pPr algn="r"/>
            <a:r>
              <a:rPr b="1" sz="900">
                <a:solidFill>
                  <a:srgbClr val="77859C"/>
                </a:solidFill>
                <a:latin typeface="Aptos"/>
              </a:rPr>
              <a:t>07</a:t>
            </a:r>
          </a:p>
        </p:txBody>
      </p:sp>
      <p:sp>
        <p:nvSpPr>
          <p:cNvPr id="1048814" name="TextBox 5"/>
          <p:cNvSpPr txBox="1"/>
          <p:nvPr/>
        </p:nvSpPr>
        <p:spPr>
          <a:xfrm>
            <a:off x="640080" y="347472"/>
            <a:ext cx="6400800" cy="228600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900">
                <a:solidFill>
                  <a:srgbClr val="25AEB0"/>
                </a:solidFill>
                <a:latin typeface="Aptos"/>
              </a:rPr>
              <a:t>06 • FUTURE VISION</a:t>
            </a:r>
          </a:p>
        </p:txBody>
      </p:sp>
      <p:sp>
        <p:nvSpPr>
          <p:cNvPr id="1048815" name="TextBox 6"/>
          <p:cNvSpPr txBox="1"/>
          <p:nvPr/>
        </p:nvSpPr>
        <p:spPr>
          <a:xfrm>
            <a:off x="640080" y="658368"/>
            <a:ext cx="10698480" cy="502920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2700">
                <a:solidFill>
                  <a:srgbClr val="1E3052"/>
                </a:solidFill>
                <a:latin typeface="Aptos"/>
              </a:rPr>
              <a:t>From subject selection to an academic co-pilot.</a:t>
            </a:r>
          </a:p>
        </p:txBody>
      </p:sp>
      <p:sp>
        <p:nvSpPr>
          <p:cNvPr id="1048816" name="TextBox 7"/>
          <p:cNvSpPr txBox="1"/>
          <p:nvPr/>
        </p:nvSpPr>
        <p:spPr>
          <a:xfrm>
            <a:off x="640080" y="1188720"/>
            <a:ext cx="10789920" cy="320040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0" sz="1000">
                <a:solidFill>
                  <a:srgbClr val="77859C"/>
                </a:solidFill>
                <a:latin typeface="Aptos"/>
              </a:rPr>
              <a:t>A phased roadmap keeps the first version achievable and creates room for responsible AI growth.</a:t>
            </a:r>
          </a:p>
        </p:txBody>
      </p:sp>
      <p:sp>
        <p:nvSpPr>
          <p:cNvPr id="1048817" name="Rounded Rectangle 8"/>
          <p:cNvSpPr/>
          <p:nvPr/>
        </p:nvSpPr>
        <p:spPr>
          <a:xfrm>
            <a:off x="640080" y="1828800"/>
            <a:ext cx="2423160" cy="2423160"/>
          </a:xfrm>
          <a:prstGeom prst="roundRect"/>
          <a:solidFill>
            <a:srgbClr val="FFFFFF"/>
          </a:solidFill>
          <a:ln>
            <a:solidFill>
              <a:srgbClr val="E1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18" name="Rounded Rectangle 9"/>
          <p:cNvSpPr/>
          <p:nvPr/>
        </p:nvSpPr>
        <p:spPr>
          <a:xfrm>
            <a:off x="841247" y="2057400"/>
            <a:ext cx="685800" cy="310896"/>
          </a:xfrm>
          <a:prstGeom prst="roundRect"/>
          <a:solidFill>
            <a:srgbClr val="E5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19" name="TextBox 10"/>
          <p:cNvSpPr txBox="1"/>
          <p:nvPr/>
        </p:nvSpPr>
        <p:spPr>
          <a:xfrm>
            <a:off x="841247" y="2075688"/>
            <a:ext cx="685800" cy="219456"/>
          </a:xfrm>
          <a:prstGeom prst="rect"/>
          <a:noFill/>
        </p:spPr>
        <p:txBody>
          <a:bodyPr wrap="square">
            <a:spAutoFit/>
          </a:bodyPr>
          <a:p>
            <a:pPr algn="ctr"/>
            <a:r>
              <a:rPr b="1" sz="800">
                <a:solidFill>
                  <a:srgbClr val="1E3052"/>
                </a:solidFill>
                <a:latin typeface="Aptos"/>
              </a:rPr>
              <a:t>NOW</a:t>
            </a:r>
          </a:p>
        </p:txBody>
      </p:sp>
      <p:sp>
        <p:nvSpPr>
          <p:cNvPr id="1048820" name="TextBox 11"/>
          <p:cNvSpPr txBox="1"/>
          <p:nvPr/>
        </p:nvSpPr>
        <p:spPr>
          <a:xfrm>
            <a:off x="841247" y="2697480"/>
            <a:ext cx="1920240" cy="457200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1400">
                <a:solidFill>
                  <a:srgbClr val="1E3052"/>
                </a:solidFill>
                <a:latin typeface="Aptos"/>
              </a:rPr>
              <a:t>Subject matching</a:t>
            </a:r>
          </a:p>
        </p:txBody>
      </p:sp>
      <p:sp>
        <p:nvSpPr>
          <p:cNvPr id="1048821" name="TextBox 12"/>
          <p:cNvSpPr txBox="1"/>
          <p:nvPr/>
        </p:nvSpPr>
        <p:spPr>
          <a:xfrm>
            <a:off x="841247" y="3383280"/>
            <a:ext cx="1920240" cy="320040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1100">
                <a:solidFill>
                  <a:srgbClr val="25AEB0"/>
                </a:solidFill>
                <a:latin typeface="Aptos"/>
              </a:rPr>
              <a:t>MVP</a:t>
            </a:r>
          </a:p>
        </p:txBody>
      </p:sp>
      <p:cxnSp>
        <p:nvCxnSpPr>
          <p:cNvPr id="3145739" name="Connector 13"/>
          <p:cNvCxnSpPr>
            <a:cxnSpLocks/>
          </p:cNvCxnSpPr>
          <p:nvPr/>
        </p:nvCxnSpPr>
        <p:spPr>
          <a:xfrm>
            <a:off x="3063239" y="3044952"/>
            <a:ext cx="338329" cy="0"/>
          </a:xfrm>
          <a:prstGeom prst="line"/>
          <a:ln w="21590">
            <a:solidFill>
              <a:srgbClr val="4B8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822" name="Rounded Rectangle 14"/>
          <p:cNvSpPr/>
          <p:nvPr/>
        </p:nvSpPr>
        <p:spPr>
          <a:xfrm>
            <a:off x="3456432" y="1828800"/>
            <a:ext cx="2423160" cy="2423160"/>
          </a:xfrm>
          <a:prstGeom prst="roundRect"/>
          <a:solidFill>
            <a:srgbClr val="FFFFFF"/>
          </a:solidFill>
          <a:ln>
            <a:solidFill>
              <a:srgbClr val="E1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23" name="Rounded Rectangle 15"/>
          <p:cNvSpPr/>
          <p:nvPr/>
        </p:nvSpPr>
        <p:spPr>
          <a:xfrm>
            <a:off x="3657600" y="2057400"/>
            <a:ext cx="685800" cy="310896"/>
          </a:xfrm>
          <a:prstGeom prst="roundRect"/>
          <a:solidFill>
            <a:srgbClr val="EA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24" name="TextBox 16"/>
          <p:cNvSpPr txBox="1"/>
          <p:nvPr/>
        </p:nvSpPr>
        <p:spPr>
          <a:xfrm>
            <a:off x="3657600" y="2075688"/>
            <a:ext cx="685800" cy="219456"/>
          </a:xfrm>
          <a:prstGeom prst="rect"/>
          <a:noFill/>
        </p:spPr>
        <p:txBody>
          <a:bodyPr wrap="square">
            <a:spAutoFit/>
          </a:bodyPr>
          <a:p>
            <a:pPr algn="ctr"/>
            <a:r>
              <a:rPr b="1" sz="800">
                <a:solidFill>
                  <a:srgbClr val="1E3052"/>
                </a:solidFill>
                <a:latin typeface="Aptos"/>
              </a:rPr>
              <a:t>NEXT</a:t>
            </a:r>
          </a:p>
        </p:txBody>
      </p:sp>
      <p:sp>
        <p:nvSpPr>
          <p:cNvPr id="1048825" name="TextBox 17"/>
          <p:cNvSpPr txBox="1"/>
          <p:nvPr/>
        </p:nvSpPr>
        <p:spPr>
          <a:xfrm>
            <a:off x="3657600" y="2697480"/>
            <a:ext cx="1920240" cy="457200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1400">
                <a:solidFill>
                  <a:srgbClr val="1E3052"/>
                </a:solidFill>
                <a:latin typeface="Aptos"/>
              </a:rPr>
              <a:t>Career roadmap</a:t>
            </a:r>
          </a:p>
        </p:txBody>
      </p:sp>
      <p:sp>
        <p:nvSpPr>
          <p:cNvPr id="1048826" name="TextBox 18"/>
          <p:cNvSpPr txBox="1"/>
          <p:nvPr/>
        </p:nvSpPr>
        <p:spPr>
          <a:xfrm>
            <a:off x="3657600" y="3383280"/>
            <a:ext cx="1920240" cy="320040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1100">
                <a:solidFill>
                  <a:srgbClr val="4B82DC"/>
                </a:solidFill>
                <a:latin typeface="Aptos"/>
              </a:rPr>
              <a:t>ML</a:t>
            </a:r>
          </a:p>
        </p:txBody>
      </p:sp>
      <p:cxnSp>
        <p:nvCxnSpPr>
          <p:cNvPr id="3145740" name="Connector 19"/>
          <p:cNvCxnSpPr>
            <a:cxnSpLocks/>
          </p:cNvCxnSpPr>
          <p:nvPr/>
        </p:nvCxnSpPr>
        <p:spPr>
          <a:xfrm>
            <a:off x="5879592" y="3044952"/>
            <a:ext cx="338328" cy="0"/>
          </a:xfrm>
          <a:prstGeom prst="line"/>
          <a:ln w="21590">
            <a:solidFill>
              <a:srgbClr val="4B8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827" name="Rounded Rectangle 20"/>
          <p:cNvSpPr/>
          <p:nvPr/>
        </p:nvSpPr>
        <p:spPr>
          <a:xfrm>
            <a:off x="6272784" y="1828800"/>
            <a:ext cx="2423160" cy="2423160"/>
          </a:xfrm>
          <a:prstGeom prst="roundRect"/>
          <a:solidFill>
            <a:srgbClr val="FFFFFF"/>
          </a:solidFill>
          <a:ln>
            <a:solidFill>
              <a:srgbClr val="E1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28" name="Rounded Rectangle 21"/>
          <p:cNvSpPr/>
          <p:nvPr/>
        </p:nvSpPr>
        <p:spPr>
          <a:xfrm>
            <a:off x="6473952" y="2057400"/>
            <a:ext cx="685800" cy="310896"/>
          </a:xfrm>
          <a:prstGeom prst="roundRect"/>
          <a:solidFill>
            <a:srgbClr val="F2ED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29" name="TextBox 22"/>
          <p:cNvSpPr txBox="1"/>
          <p:nvPr/>
        </p:nvSpPr>
        <p:spPr>
          <a:xfrm>
            <a:off x="6473952" y="2075688"/>
            <a:ext cx="685800" cy="219456"/>
          </a:xfrm>
          <a:prstGeom prst="rect"/>
          <a:noFill/>
        </p:spPr>
        <p:txBody>
          <a:bodyPr wrap="square">
            <a:spAutoFit/>
          </a:bodyPr>
          <a:p>
            <a:pPr algn="ctr"/>
            <a:r>
              <a:rPr b="1" sz="800">
                <a:solidFill>
                  <a:srgbClr val="1E3052"/>
                </a:solidFill>
                <a:latin typeface="Aptos"/>
              </a:rPr>
              <a:t>LATER</a:t>
            </a:r>
          </a:p>
        </p:txBody>
      </p:sp>
      <p:sp>
        <p:nvSpPr>
          <p:cNvPr id="1048830" name="TextBox 23"/>
          <p:cNvSpPr txBox="1"/>
          <p:nvPr/>
        </p:nvSpPr>
        <p:spPr>
          <a:xfrm>
            <a:off x="6473952" y="2697480"/>
            <a:ext cx="1920240" cy="457200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1400">
                <a:solidFill>
                  <a:srgbClr val="1E3052"/>
                </a:solidFill>
                <a:latin typeface="Aptos"/>
              </a:rPr>
              <a:t>Academic co-pilot</a:t>
            </a:r>
          </a:p>
        </p:txBody>
      </p:sp>
      <p:sp>
        <p:nvSpPr>
          <p:cNvPr id="1048831" name="TextBox 24"/>
          <p:cNvSpPr txBox="1"/>
          <p:nvPr/>
        </p:nvSpPr>
        <p:spPr>
          <a:xfrm>
            <a:off x="6473952" y="3383280"/>
            <a:ext cx="1920240" cy="320040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1100">
                <a:solidFill>
                  <a:srgbClr val="8B6FD2"/>
                </a:solidFill>
                <a:latin typeface="Aptos"/>
              </a:rPr>
              <a:t>LLM</a:t>
            </a:r>
          </a:p>
        </p:txBody>
      </p:sp>
      <p:cxnSp>
        <p:nvCxnSpPr>
          <p:cNvPr id="3145741" name="Connector 25"/>
          <p:cNvCxnSpPr>
            <a:cxnSpLocks/>
          </p:cNvCxnSpPr>
          <p:nvPr/>
        </p:nvCxnSpPr>
        <p:spPr>
          <a:xfrm>
            <a:off x="8695944" y="3044952"/>
            <a:ext cx="338328" cy="0"/>
          </a:xfrm>
          <a:prstGeom prst="line"/>
          <a:ln w="21590">
            <a:solidFill>
              <a:srgbClr val="4B8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832" name="Rounded Rectangle 26"/>
          <p:cNvSpPr/>
          <p:nvPr/>
        </p:nvSpPr>
        <p:spPr>
          <a:xfrm>
            <a:off x="9089136" y="1828800"/>
            <a:ext cx="2423160" cy="2423160"/>
          </a:xfrm>
          <a:prstGeom prst="roundRect"/>
          <a:solidFill>
            <a:srgbClr val="FFFFFF"/>
          </a:solidFill>
          <a:ln>
            <a:solidFill>
              <a:srgbClr val="E1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33" name="Rounded Rectangle 27"/>
          <p:cNvSpPr/>
          <p:nvPr/>
        </p:nvSpPr>
        <p:spPr>
          <a:xfrm>
            <a:off x="9290304" y="2057400"/>
            <a:ext cx="685800" cy="310896"/>
          </a:xfrm>
          <a:prstGeom prst="roundRect"/>
          <a:solidFill>
            <a:srgbClr val="E9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34" name="TextBox 28"/>
          <p:cNvSpPr txBox="1"/>
          <p:nvPr/>
        </p:nvSpPr>
        <p:spPr>
          <a:xfrm>
            <a:off x="9290304" y="2075688"/>
            <a:ext cx="685800" cy="219456"/>
          </a:xfrm>
          <a:prstGeom prst="rect"/>
          <a:noFill/>
        </p:spPr>
        <p:txBody>
          <a:bodyPr wrap="square">
            <a:spAutoFit/>
          </a:bodyPr>
          <a:p>
            <a:pPr algn="ctr"/>
            <a:r>
              <a:rPr b="1" sz="800">
                <a:solidFill>
                  <a:srgbClr val="1E3052"/>
                </a:solidFill>
                <a:latin typeface="Aptos"/>
              </a:rPr>
              <a:t>SCALE</a:t>
            </a:r>
          </a:p>
        </p:txBody>
      </p:sp>
      <p:sp>
        <p:nvSpPr>
          <p:cNvPr id="1048835" name="TextBox 29"/>
          <p:cNvSpPr txBox="1"/>
          <p:nvPr/>
        </p:nvSpPr>
        <p:spPr>
          <a:xfrm>
            <a:off x="9290304" y="2697480"/>
            <a:ext cx="1920240" cy="457200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1400">
                <a:solidFill>
                  <a:srgbClr val="1E3052"/>
                </a:solidFill>
                <a:latin typeface="Aptos"/>
              </a:rPr>
              <a:t>College ecosystem</a:t>
            </a:r>
          </a:p>
        </p:txBody>
      </p:sp>
      <p:sp>
        <p:nvSpPr>
          <p:cNvPr id="1048836" name="TextBox 30"/>
          <p:cNvSpPr txBox="1"/>
          <p:nvPr/>
        </p:nvSpPr>
        <p:spPr>
          <a:xfrm>
            <a:off x="9290304" y="3383280"/>
            <a:ext cx="1920240" cy="320040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1100">
                <a:solidFill>
                  <a:srgbClr val="41A67D"/>
                </a:solidFill>
                <a:latin typeface="Aptos"/>
              </a:rPr>
              <a:t>Cloud</a:t>
            </a:r>
          </a:p>
        </p:txBody>
      </p:sp>
      <p:sp>
        <p:nvSpPr>
          <p:cNvPr id="1048837" name="Rounded Rectangle 31"/>
          <p:cNvSpPr/>
          <p:nvPr/>
        </p:nvSpPr>
        <p:spPr>
          <a:xfrm>
            <a:off x="640080" y="4617720"/>
            <a:ext cx="10927080" cy="1325880"/>
          </a:xfrm>
          <a:prstGeom prst="roundRect"/>
          <a:solidFill>
            <a:srgbClr val="EAF1FD"/>
          </a:solidFill>
          <a:ln>
            <a:solidFill>
              <a:srgbClr val="E1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38" name="TextBox 32"/>
          <p:cNvSpPr txBox="1"/>
          <p:nvPr/>
        </p:nvSpPr>
        <p:spPr>
          <a:xfrm>
            <a:off x="914400" y="4846320"/>
            <a:ext cx="10332720" cy="320040"/>
          </a:xfrm>
          <a:prstGeom prst="rect"/>
          <a:noFill/>
        </p:spPr>
        <p:txBody>
          <a:bodyPr wrap="square">
            <a:spAutoFit/>
          </a:bodyPr>
          <a:p>
            <a:pPr algn="ctr"/>
            <a:r>
              <a:rPr b="1" sz="900">
                <a:solidFill>
                  <a:srgbClr val="25AEB0"/>
                </a:solidFill>
                <a:latin typeface="Aptos"/>
              </a:rPr>
              <a:t>THE TAKEAWAY</a:t>
            </a:r>
          </a:p>
        </p:txBody>
      </p:sp>
      <p:sp>
        <p:nvSpPr>
          <p:cNvPr id="1048839" name="TextBox 33"/>
          <p:cNvSpPr txBox="1"/>
          <p:nvPr/>
        </p:nvSpPr>
        <p:spPr>
          <a:xfrm>
            <a:off x="914400" y="5230368"/>
            <a:ext cx="10332720" cy="502920"/>
          </a:xfrm>
          <a:prstGeom prst="rect"/>
          <a:noFill/>
        </p:spPr>
        <p:txBody>
          <a:bodyPr wrap="square">
            <a:spAutoFit/>
          </a:bodyPr>
          <a:p>
            <a:pPr algn="ctr"/>
            <a:r>
              <a:rPr b="1" sz="1700">
                <a:solidFill>
                  <a:srgbClr val="1E3052"/>
                </a:solidFill>
                <a:latin typeface="Aptos"/>
              </a:rPr>
              <a:t>EduSelect AI turns subject selection into a personalized, explainable, data-driven experience.</a:t>
            </a:r>
          </a:p>
        </p:txBody>
      </p:sp>
      <p:sp>
        <p:nvSpPr>
          <p:cNvPr id="1048840" name="TextBox 34"/>
          <p:cNvSpPr txBox="1"/>
          <p:nvPr/>
        </p:nvSpPr>
        <p:spPr>
          <a:xfrm>
            <a:off x="4983480" y="6199632"/>
            <a:ext cx="2194560" cy="228600"/>
          </a:xfrm>
          <a:prstGeom prst="rect"/>
          <a:noFill/>
        </p:spPr>
        <p:txBody>
          <a:bodyPr wrap="square">
            <a:spAutoFit/>
          </a:bodyPr>
          <a:p>
            <a:pPr algn="ctr"/>
            <a:r>
              <a:rPr b="1" sz="1000">
                <a:solidFill>
                  <a:srgbClr val="25AEB0"/>
                </a:solidFill>
                <a:latin typeface="Aptos"/>
              </a:rPr>
              <a:t>THANK YOU  • 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Macintosh PowerPoint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RMX3998</dc:creator>
  <cp:lastModifiedBy>Steve Canny</cp:lastModifiedBy>
  <dcterms:created xsi:type="dcterms:W3CDTF">2013-01-26T11:14:16Z</dcterms:created>
  <dcterms:modified xsi:type="dcterms:W3CDTF">2026-10-03T07:25:16Z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3e7f18c7ad5e4c94b21c7be0b65393b9</vt:lpwstr>
  </property>
</Properties>
</file>